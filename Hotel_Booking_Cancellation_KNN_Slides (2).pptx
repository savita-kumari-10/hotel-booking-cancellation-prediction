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71875"/>
          <c:y val="0.0617401668653159"/>
          <c:w val="0.549131944444444"/>
          <c:h val="0.753992848629321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explosion val="0"/>
          <c:dPt>
            <c:idx val="0"/>
            <c:bubble3D val="0"/>
            <c:spPr>
              <a:solidFill>
                <a:srgbClr val="2F3C7E"/>
              </a:solidFill>
              <a:effectLst/>
            </c:spPr>
          </c:dPt>
          <c:dPt>
            <c:idx val="1"/>
            <c:bubble3D val="0"/>
            <c:spPr>
              <a:solidFill>
                <a:srgbClr val="F96167"/>
              </a:solidFill>
              <a:effectLst/>
            </c:spPr>
          </c:dPt>
          <c:dLbls>
            <c:dLbl>
              <c:idx val="0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100" b="0" i="0" u="none" strike="noStrike" kern="1200" baseline="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100" b="0" i="0" u="none" strike="noStrike" kern="1200" baseline="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8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Sheet1!$A$2:$A$3</c:f>
              <c:strCache>
                <c:ptCount val="2"/>
                <c:pt idx="0">
                  <c:v>Not Cancelled</c:v>
                </c:pt>
                <c:pt idx="1">
                  <c:v>Cancelled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67.2</c:v>
                </c:pt>
                <c:pt idx="1">
                  <c:v>32.8</c:v>
                </c:pt>
              </c:numCache>
            </c:numRef>
          </c:val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72164254459778"/>
          <c:y val="0.819568277803848"/>
          <c:w val="0.539548973409626"/>
          <c:h val="0.122477709995307"/>
        </c:manualLayout>
      </c:layout>
      <c:overlay val="0"/>
      <c:txPr>
        <a:bodyPr rot="0" spcFirstLastPara="0" vertOverflow="ellipsis" vert="horz" wrap="square" anchor="ctr" anchorCtr="1"/>
        <a:lstStyle/>
        <a:p>
          <a:pPr>
            <a:defRPr lang="en-US"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c413941d-c4a2-4140-9b8e-3a5548a32047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image" Target="../media/image4.png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7" Type="http://schemas.openxmlformats.org/officeDocument/2006/relationships/notesSlide" Target="../notesSlides/notesSlide3.xml"/><Relationship Id="rId26" Type="http://schemas.openxmlformats.org/officeDocument/2006/relationships/slideLayout" Target="../slideLayouts/slideLayout1.xml"/><Relationship Id="rId25" Type="http://schemas.openxmlformats.org/officeDocument/2006/relationships/tags" Target="../tags/tag20.xml"/><Relationship Id="rId24" Type="http://schemas.openxmlformats.org/officeDocument/2006/relationships/tags" Target="../tags/tag19.xml"/><Relationship Id="rId23" Type="http://schemas.openxmlformats.org/officeDocument/2006/relationships/image" Target="../media/image7.png"/><Relationship Id="rId22" Type="http://schemas.openxmlformats.org/officeDocument/2006/relationships/tags" Target="../tags/tag18.xml"/><Relationship Id="rId21" Type="http://schemas.openxmlformats.org/officeDocument/2006/relationships/tags" Target="../tags/tag17.xml"/><Relationship Id="rId20" Type="http://schemas.openxmlformats.org/officeDocument/2006/relationships/tags" Target="../tags/tag16.xml"/><Relationship Id="rId2" Type="http://schemas.openxmlformats.org/officeDocument/2006/relationships/tags" Target="../tags/tag1.xml"/><Relationship Id="rId19" Type="http://schemas.openxmlformats.org/officeDocument/2006/relationships/tags" Target="../tags/tag15.xml"/><Relationship Id="rId18" Type="http://schemas.openxmlformats.org/officeDocument/2006/relationships/tags" Target="../tags/tag14.xml"/><Relationship Id="rId17" Type="http://schemas.openxmlformats.org/officeDocument/2006/relationships/image" Target="../media/image6.png"/><Relationship Id="rId16" Type="http://schemas.openxmlformats.org/officeDocument/2006/relationships/tags" Target="../tags/tag13.xml"/><Relationship Id="rId15" Type="http://schemas.openxmlformats.org/officeDocument/2006/relationships/tags" Target="../tags/tag12.xml"/><Relationship Id="rId14" Type="http://schemas.openxmlformats.org/officeDocument/2006/relationships/tags" Target="../tags/tag11.xml"/><Relationship Id="rId13" Type="http://schemas.openxmlformats.org/officeDocument/2006/relationships/tags" Target="../tags/tag10.xml"/><Relationship Id="rId12" Type="http://schemas.openxmlformats.org/officeDocument/2006/relationships/tags" Target="../tags/tag9.xml"/><Relationship Id="rId11" Type="http://schemas.openxmlformats.org/officeDocument/2006/relationships/image" Target="../media/image5.png"/><Relationship Id="rId10" Type="http://schemas.openxmlformats.org/officeDocument/2006/relationships/tags" Target="../tags/tag8.xml"/><Relationship Id="rId1" Type="http://schemas.openxmlformats.org/officeDocument/2006/relationships/chart" Target="../charts/chart1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28.xml"/><Relationship Id="rId8" Type="http://schemas.openxmlformats.org/officeDocument/2006/relationships/tags" Target="../tags/tag27.xml"/><Relationship Id="rId7" Type="http://schemas.openxmlformats.org/officeDocument/2006/relationships/tags" Target="../tags/tag26.xml"/><Relationship Id="rId6" Type="http://schemas.openxmlformats.org/officeDocument/2006/relationships/tags" Target="../tags/tag25.xml"/><Relationship Id="rId5" Type="http://schemas.openxmlformats.org/officeDocument/2006/relationships/tags" Target="../tags/tag24.xml"/><Relationship Id="rId4" Type="http://schemas.openxmlformats.org/officeDocument/2006/relationships/tags" Target="../tags/tag23.xml"/><Relationship Id="rId3" Type="http://schemas.openxmlformats.org/officeDocument/2006/relationships/tags" Target="../tags/tag22.xml"/><Relationship Id="rId23" Type="http://schemas.openxmlformats.org/officeDocument/2006/relationships/notesSlide" Target="../notesSlides/notesSlide5.xml"/><Relationship Id="rId22" Type="http://schemas.openxmlformats.org/officeDocument/2006/relationships/slideLayout" Target="../slideLayouts/slideLayout1.xml"/><Relationship Id="rId21" Type="http://schemas.openxmlformats.org/officeDocument/2006/relationships/tags" Target="../tags/tag40.xml"/><Relationship Id="rId20" Type="http://schemas.openxmlformats.org/officeDocument/2006/relationships/tags" Target="../tags/tag39.xml"/><Relationship Id="rId2" Type="http://schemas.openxmlformats.org/officeDocument/2006/relationships/tags" Target="../tags/tag21.xml"/><Relationship Id="rId19" Type="http://schemas.openxmlformats.org/officeDocument/2006/relationships/tags" Target="../tags/tag38.xml"/><Relationship Id="rId18" Type="http://schemas.openxmlformats.org/officeDocument/2006/relationships/tags" Target="../tags/tag37.xml"/><Relationship Id="rId17" Type="http://schemas.openxmlformats.org/officeDocument/2006/relationships/tags" Target="../tags/tag36.xml"/><Relationship Id="rId16" Type="http://schemas.openxmlformats.org/officeDocument/2006/relationships/tags" Target="../tags/tag35.xml"/><Relationship Id="rId15" Type="http://schemas.openxmlformats.org/officeDocument/2006/relationships/tags" Target="../tags/tag34.xml"/><Relationship Id="rId14" Type="http://schemas.openxmlformats.org/officeDocument/2006/relationships/tags" Target="../tags/tag33.xml"/><Relationship Id="rId13" Type="http://schemas.openxmlformats.org/officeDocument/2006/relationships/tags" Target="../tags/tag32.xml"/><Relationship Id="rId12" Type="http://schemas.openxmlformats.org/officeDocument/2006/relationships/tags" Target="../tags/tag31.xml"/><Relationship Id="rId11" Type="http://schemas.openxmlformats.org/officeDocument/2006/relationships/tags" Target="../tags/tag30.xml"/><Relationship Id="rId10" Type="http://schemas.openxmlformats.org/officeDocument/2006/relationships/tags" Target="../tags/tag29.xml"/><Relationship Id="rId1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49.xml"/><Relationship Id="rId8" Type="http://schemas.openxmlformats.org/officeDocument/2006/relationships/tags" Target="../tags/tag48.xml"/><Relationship Id="rId7" Type="http://schemas.openxmlformats.org/officeDocument/2006/relationships/tags" Target="../tags/tag47.xml"/><Relationship Id="rId6" Type="http://schemas.openxmlformats.org/officeDocument/2006/relationships/tags" Target="../tags/tag46.xml"/><Relationship Id="rId5" Type="http://schemas.openxmlformats.org/officeDocument/2006/relationships/tags" Target="../tags/tag45.xml"/><Relationship Id="rId4" Type="http://schemas.openxmlformats.org/officeDocument/2006/relationships/tags" Target="../tags/tag44.xml"/><Relationship Id="rId3" Type="http://schemas.openxmlformats.org/officeDocument/2006/relationships/tags" Target="../tags/tag43.xml"/><Relationship Id="rId20" Type="http://schemas.openxmlformats.org/officeDocument/2006/relationships/notesSlide" Target="../notesSlides/notesSlide9.xml"/><Relationship Id="rId2" Type="http://schemas.openxmlformats.org/officeDocument/2006/relationships/tags" Target="../tags/tag42.xml"/><Relationship Id="rId19" Type="http://schemas.openxmlformats.org/officeDocument/2006/relationships/slideLayout" Target="../slideLayouts/slideLayout1.xml"/><Relationship Id="rId18" Type="http://schemas.openxmlformats.org/officeDocument/2006/relationships/image" Target="../media/image18.png"/><Relationship Id="rId17" Type="http://schemas.openxmlformats.org/officeDocument/2006/relationships/image" Target="../media/image17.png"/><Relationship Id="rId16" Type="http://schemas.openxmlformats.org/officeDocument/2006/relationships/image" Target="../media/image16.png"/><Relationship Id="rId15" Type="http://schemas.openxmlformats.org/officeDocument/2006/relationships/tags" Target="../tags/tag55.xml"/><Relationship Id="rId14" Type="http://schemas.openxmlformats.org/officeDocument/2006/relationships/tags" Target="../tags/tag54.xml"/><Relationship Id="rId13" Type="http://schemas.openxmlformats.org/officeDocument/2006/relationships/tags" Target="../tags/tag53.xml"/><Relationship Id="rId12" Type="http://schemas.openxmlformats.org/officeDocument/2006/relationships/tags" Target="../tags/tag52.xml"/><Relationship Id="rId11" Type="http://schemas.openxmlformats.org/officeDocument/2006/relationships/tags" Target="../tags/tag51.xml"/><Relationship Id="rId10" Type="http://schemas.openxmlformats.org/officeDocument/2006/relationships/tags" Target="../tags/tag50.xml"/><Relationship Id="rId1" Type="http://schemas.openxmlformats.org/officeDocument/2006/relationships/tags" Target="../tags/tag41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63.xml"/><Relationship Id="rId8" Type="http://schemas.openxmlformats.org/officeDocument/2006/relationships/tags" Target="../tags/tag62.xml"/><Relationship Id="rId7" Type="http://schemas.openxmlformats.org/officeDocument/2006/relationships/tags" Target="../tags/tag61.xml"/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2" Type="http://schemas.openxmlformats.org/officeDocument/2006/relationships/notesSlide" Target="../notesSlides/notesSlide10.xml"/><Relationship Id="rId11" Type="http://schemas.openxmlformats.org/officeDocument/2006/relationships/slideLayout" Target="../slideLayouts/slideLayout1.xml"/><Relationship Id="rId10" Type="http://schemas.openxmlformats.org/officeDocument/2006/relationships/tags" Target="../tags/tag64.xml"/><Relationship Id="rId1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8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572000" cy="4572000"/>
          </a:xfrm>
          <a:prstGeom prst="ellipse">
            <a:avLst/>
          </a:prstGeom>
          <a:solidFill>
            <a:srgbClr val="2F3C7E">
              <a:alpha val="60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-1371600" y="4754880"/>
            <a:ext cx="3657600" cy="3657600"/>
          </a:xfrm>
          <a:prstGeom prst="ellipse">
            <a:avLst/>
          </a:prstGeom>
          <a:solidFill>
            <a:srgbClr val="F96167">
              <a:alpha val="25000"/>
            </a:srgbClr>
          </a:solidFill>
        </p:spPr>
        <p:txBody>
          <a:bodyPr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" y="822960"/>
            <a:ext cx="822960" cy="822960"/>
          </a:xfrm>
          <a:prstGeom prst="ellipse">
            <a:avLst/>
          </a:prstGeom>
          <a:solidFill>
            <a:srgbClr val="F96167"/>
          </a:solidFill>
        </p:spPr>
      </p:sp>
      <p:pic>
        <p:nvPicPr>
          <p:cNvPr id="5" name="Image 0" descr="/home/claude/project/icons/hotel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3389" y="1053389"/>
            <a:ext cx="362102" cy="3621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377440"/>
            <a:ext cx="1005840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Hotel Booking Cancellation Prediction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22960" y="3429000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9E79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Using the K-Nearest Neighbors (KNN) Classification Algorithm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22960" y="512064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5E7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Presented by: Savita Kumari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" y="548640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5E7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Guide: Mr Vikas Goel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22960" y="585216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en-US" sz="1400" dirty="0">
                <a:solidFill>
                  <a:schemeClr val="bg1"/>
                </a:solidFill>
              </a:rPr>
              <a:t>Naviotech Solution</a:t>
            </a:r>
            <a:endParaRPr lang="en-US" altLang="en-US" sz="1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85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hotels need to predict booking cancellations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09650" y="1634490"/>
            <a:ext cx="11064240" cy="4480560"/>
          </a:xfrm>
          <a:prstGeom prst="roundRect">
            <a:avLst>
              <a:gd name="adj" fmla="val 1633"/>
            </a:avLst>
          </a:prstGeom>
          <a:solidFill>
            <a:srgbClr val="F7F8FC"/>
          </a:solidFill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1828800"/>
            <a:ext cx="502920" cy="502920"/>
          </a:xfrm>
          <a:prstGeom prst="ellipse">
            <a:avLst/>
          </a:prstGeom>
          <a:solidFill>
            <a:srgbClr val="F96167"/>
          </a:solidFill>
        </p:spPr>
      </p:sp>
      <p:pic>
        <p:nvPicPr>
          <p:cNvPr id="6" name="Image 0" descr="/home/claude/project/icons/warning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9498" y="1969618"/>
            <a:ext cx="221285" cy="22128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828800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8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Business Problem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1832610" y="2514600"/>
            <a:ext cx="6548120" cy="1965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1000"/>
              </a:spcAft>
              <a:buNone/>
            </a:pPr>
            <a:r>
              <a:rPr lang="en-US" dirty="0">
                <a:solidFill>
                  <a:srgbClr val="2B2B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Guests often cancel hotel bookings after reserving a room,causing:</a:t>
            </a:r>
            <a:endParaRPr lang="en-US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Lost revenue from empty rooms</a:t>
            </a:r>
            <a:endParaRPr lang="en-US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Poor planning for staff, food, and housekeeping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Difficulty forecasting actual occupancy</a:t>
            </a: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868680" y="4480560"/>
            <a:ext cx="1050798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i="1" dirty="0">
                <a:solidFill>
                  <a:srgbClr val="2F3C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Goal: Predict, in advance, whether a booking will be cancelled — using guest, stay, and booking details available at the time of reservation.</a:t>
            </a:r>
            <a:endParaRPr lang="en-US" sz="2000" b="1" i="1" dirty="0">
              <a:solidFill>
                <a:srgbClr val="2F3C7E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pic>
        <p:nvPicPr>
          <p:cNvPr id="12" name="Image 1" descr="/home/claude/project/icons/ma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8858" y="1969618"/>
            <a:ext cx="221285" cy="22128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863840" y="1828800"/>
            <a:ext cx="3566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Note on Scope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7178040" y="2514600"/>
            <a:ext cx="416052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7178040" y="3794760"/>
            <a:ext cx="416052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 / 10</a:t>
            </a:r>
            <a:endParaRPr lang="en-US" sz="1000" dirty="0"/>
          </a:p>
        </p:txBody>
      </p:sp>
      <p:sp>
        <p:nvSpPr>
          <p:cNvPr id="18" name="Text Box 17"/>
          <p:cNvSpPr txBox="1"/>
          <p:nvPr/>
        </p:nvSpPr>
        <p:spPr>
          <a:xfrm>
            <a:off x="4112895" y="117221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85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Dataset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Hotel_Reservations.csv — 36,275 bookings, 19 columns</a:t>
            </a:r>
            <a:endParaRPr lang="en-US" sz="1400" dirty="0"/>
          </a:p>
        </p:txBody>
      </p:sp>
      <p:sp>
        <p:nvSpPr>
          <p:cNvPr id="4" name="Shape 2"/>
          <p:cNvSpPr/>
          <p:nvPr>
            <p:custDataLst>
              <p:tags r:id="rId2"/>
            </p:custDataLst>
          </p:nvPr>
        </p:nvSpPr>
        <p:spPr>
          <a:xfrm>
            <a:off x="548640" y="1680916"/>
            <a:ext cx="2622127" cy="1748084"/>
          </a:xfrm>
          <a:prstGeom prst="roundRect">
            <a:avLst>
              <a:gd name="adj" fmla="val 4211"/>
            </a:avLst>
          </a:prstGeom>
          <a:solidFill>
            <a:srgbClr val="F7F8FC"/>
          </a:solidFill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>
            <p:custDataLst>
              <p:tags r:id="rId3"/>
            </p:custDataLst>
          </p:nvPr>
        </p:nvSpPr>
        <p:spPr>
          <a:xfrm>
            <a:off x="1583690" y="1846524"/>
            <a:ext cx="552027" cy="552027"/>
          </a:xfrm>
          <a:prstGeom prst="ellipse">
            <a:avLst/>
          </a:prstGeom>
          <a:solidFill>
            <a:srgbClr val="2F3C7E"/>
          </a:solidFill>
        </p:spPr>
      </p:sp>
      <p:pic>
        <p:nvPicPr>
          <p:cNvPr id="6" name="Image 0" descr="/home/claude/project/icons/database_white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738257" y="2001091"/>
            <a:ext cx="242892" cy="242892"/>
          </a:xfrm>
          <a:prstGeom prst="rect">
            <a:avLst/>
          </a:prstGeom>
        </p:spPr>
      </p:pic>
      <p:sp>
        <p:nvSpPr>
          <p:cNvPr id="7" name="Text 4"/>
          <p:cNvSpPr/>
          <p:nvPr>
            <p:custDataLst>
              <p:tags r:id="rId6"/>
            </p:custDataLst>
          </p:nvPr>
        </p:nvSpPr>
        <p:spPr>
          <a:xfrm>
            <a:off x="548640" y="2508956"/>
            <a:ext cx="2622127" cy="46002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F3C7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36,275</a:t>
            </a:r>
            <a:endParaRPr lang="en-US" sz="2200" dirty="0"/>
          </a:p>
        </p:txBody>
      </p:sp>
      <p:sp>
        <p:nvSpPr>
          <p:cNvPr id="8" name="Text 5"/>
          <p:cNvSpPr/>
          <p:nvPr>
            <p:custDataLst>
              <p:tags r:id="rId7"/>
            </p:custDataLst>
          </p:nvPr>
        </p:nvSpPr>
        <p:spPr>
          <a:xfrm>
            <a:off x="548640" y="2968978"/>
            <a:ext cx="2622127" cy="36801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 Bookings</a:t>
            </a:r>
            <a:endParaRPr lang="en-US" dirty="0">
              <a:solidFill>
                <a:srgbClr val="6B728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9" name="Shape 6"/>
          <p:cNvSpPr/>
          <p:nvPr>
            <p:custDataLst>
              <p:tags r:id="rId8"/>
            </p:custDataLst>
          </p:nvPr>
        </p:nvSpPr>
        <p:spPr>
          <a:xfrm>
            <a:off x="3400778" y="1680916"/>
            <a:ext cx="2622127" cy="1748084"/>
          </a:xfrm>
          <a:prstGeom prst="roundRect">
            <a:avLst>
              <a:gd name="adj" fmla="val 4211"/>
            </a:avLst>
          </a:prstGeom>
          <a:solidFill>
            <a:srgbClr val="F7F8FC"/>
          </a:solidFill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>
            <p:custDataLst>
              <p:tags r:id="rId9"/>
            </p:custDataLst>
          </p:nvPr>
        </p:nvSpPr>
        <p:spPr>
          <a:xfrm>
            <a:off x="4435828" y="1846524"/>
            <a:ext cx="552027" cy="552027"/>
          </a:xfrm>
          <a:prstGeom prst="ellipse">
            <a:avLst/>
          </a:prstGeom>
          <a:solidFill>
            <a:srgbClr val="F96167"/>
          </a:solidFill>
        </p:spPr>
      </p:sp>
      <p:pic>
        <p:nvPicPr>
          <p:cNvPr id="11" name="Image 1" descr="/home/claude/project/icons/layers_white.png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4590395" y="2001091"/>
            <a:ext cx="242892" cy="242892"/>
          </a:xfrm>
          <a:prstGeom prst="rect">
            <a:avLst/>
          </a:prstGeom>
        </p:spPr>
      </p:pic>
      <p:sp>
        <p:nvSpPr>
          <p:cNvPr id="12" name="Text 8"/>
          <p:cNvSpPr/>
          <p:nvPr>
            <p:custDataLst>
              <p:tags r:id="rId12"/>
            </p:custDataLst>
          </p:nvPr>
        </p:nvSpPr>
        <p:spPr>
          <a:xfrm>
            <a:off x="3400778" y="2508956"/>
            <a:ext cx="2622127" cy="46002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9616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19</a:t>
            </a:r>
            <a:endParaRPr lang="en-US" sz="2200" dirty="0"/>
          </a:p>
        </p:txBody>
      </p:sp>
      <p:sp>
        <p:nvSpPr>
          <p:cNvPr id="13" name="Text 9"/>
          <p:cNvSpPr/>
          <p:nvPr>
            <p:custDataLst>
              <p:tags r:id="rId13"/>
            </p:custDataLst>
          </p:nvPr>
        </p:nvSpPr>
        <p:spPr>
          <a:xfrm>
            <a:off x="3400778" y="2968978"/>
            <a:ext cx="2622127" cy="36801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Original Columns</a:t>
            </a:r>
            <a:endParaRPr lang="en-US" dirty="0"/>
          </a:p>
        </p:txBody>
      </p:sp>
      <p:sp>
        <p:nvSpPr>
          <p:cNvPr id="14" name="Shape 10"/>
          <p:cNvSpPr/>
          <p:nvPr>
            <p:custDataLst>
              <p:tags r:id="rId14"/>
            </p:custDataLst>
          </p:nvPr>
        </p:nvSpPr>
        <p:spPr>
          <a:xfrm>
            <a:off x="6252916" y="1680916"/>
            <a:ext cx="2622127" cy="1748084"/>
          </a:xfrm>
          <a:prstGeom prst="roundRect">
            <a:avLst>
              <a:gd name="adj" fmla="val 4211"/>
            </a:avLst>
          </a:prstGeom>
          <a:solidFill>
            <a:srgbClr val="F7F8FC"/>
          </a:solidFill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>
            <p:custDataLst>
              <p:tags r:id="rId15"/>
            </p:custDataLst>
          </p:nvPr>
        </p:nvSpPr>
        <p:spPr>
          <a:xfrm>
            <a:off x="7287966" y="1846524"/>
            <a:ext cx="552027" cy="552027"/>
          </a:xfrm>
          <a:prstGeom prst="ellipse">
            <a:avLst/>
          </a:prstGeom>
          <a:solidFill>
            <a:srgbClr val="2F3C7E"/>
          </a:solidFill>
        </p:spPr>
      </p:sp>
      <p:pic>
        <p:nvPicPr>
          <p:cNvPr id="16" name="Image 2" descr="/home/claude/project/icons/check_white.png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7442533" y="2001091"/>
            <a:ext cx="242892" cy="242892"/>
          </a:xfrm>
          <a:prstGeom prst="rect">
            <a:avLst/>
          </a:prstGeom>
        </p:spPr>
      </p:pic>
      <p:sp>
        <p:nvSpPr>
          <p:cNvPr id="17" name="Text 12"/>
          <p:cNvSpPr/>
          <p:nvPr>
            <p:custDataLst>
              <p:tags r:id="rId18"/>
            </p:custDataLst>
          </p:nvPr>
        </p:nvSpPr>
        <p:spPr>
          <a:xfrm>
            <a:off x="6252916" y="2508956"/>
            <a:ext cx="2622127" cy="46002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F3C7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</a:t>
            </a:r>
            <a:endParaRPr lang="en-US" sz="2200" dirty="0"/>
          </a:p>
        </p:txBody>
      </p:sp>
      <p:sp>
        <p:nvSpPr>
          <p:cNvPr id="18" name="Text 13"/>
          <p:cNvSpPr/>
          <p:nvPr>
            <p:custDataLst>
              <p:tags r:id="rId19"/>
            </p:custDataLst>
          </p:nvPr>
        </p:nvSpPr>
        <p:spPr>
          <a:xfrm>
            <a:off x="6252916" y="2968978"/>
            <a:ext cx="2622127" cy="36801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Missing Values</a:t>
            </a:r>
            <a:endParaRPr lang="en-US" dirty="0">
              <a:solidFill>
                <a:srgbClr val="6B728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9" name="Shape 14"/>
          <p:cNvSpPr/>
          <p:nvPr>
            <p:custDataLst>
              <p:tags r:id="rId20"/>
            </p:custDataLst>
          </p:nvPr>
        </p:nvSpPr>
        <p:spPr>
          <a:xfrm>
            <a:off x="9105053" y="1680916"/>
            <a:ext cx="2622127" cy="1748084"/>
          </a:xfrm>
          <a:prstGeom prst="roundRect">
            <a:avLst>
              <a:gd name="adj" fmla="val 4211"/>
            </a:avLst>
          </a:prstGeom>
          <a:solidFill>
            <a:srgbClr val="F7F8FC"/>
          </a:solidFill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>
            <p:custDataLst>
              <p:tags r:id="rId21"/>
            </p:custDataLst>
          </p:nvPr>
        </p:nvSpPr>
        <p:spPr>
          <a:xfrm>
            <a:off x="10140103" y="1846524"/>
            <a:ext cx="552027" cy="552027"/>
          </a:xfrm>
          <a:prstGeom prst="ellipse">
            <a:avLst/>
          </a:prstGeom>
          <a:solidFill>
            <a:srgbClr val="F96167"/>
          </a:solidFill>
        </p:spPr>
      </p:sp>
      <p:pic>
        <p:nvPicPr>
          <p:cNvPr id="21" name="Image 3" descr="/home/claude/project/icons/percent_white.png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23"/>
          <a:stretch>
            <a:fillRect/>
          </a:stretch>
        </p:blipFill>
        <p:spPr>
          <a:xfrm>
            <a:off x="10294671" y="2001091"/>
            <a:ext cx="242892" cy="242892"/>
          </a:xfrm>
          <a:prstGeom prst="rect">
            <a:avLst/>
          </a:prstGeom>
        </p:spPr>
      </p:pic>
      <p:sp>
        <p:nvSpPr>
          <p:cNvPr id="22" name="Text 16"/>
          <p:cNvSpPr/>
          <p:nvPr>
            <p:custDataLst>
              <p:tags r:id="rId24"/>
            </p:custDataLst>
          </p:nvPr>
        </p:nvSpPr>
        <p:spPr>
          <a:xfrm>
            <a:off x="9105053" y="2508956"/>
            <a:ext cx="2622127" cy="46002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9616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32.8%</a:t>
            </a:r>
            <a:endParaRPr lang="en-US" sz="2200" dirty="0"/>
          </a:p>
        </p:txBody>
      </p:sp>
      <p:sp>
        <p:nvSpPr>
          <p:cNvPr id="23" name="Text 17"/>
          <p:cNvSpPr/>
          <p:nvPr>
            <p:custDataLst>
              <p:tags r:id="rId25"/>
            </p:custDataLst>
          </p:nvPr>
        </p:nvSpPr>
        <p:spPr>
          <a:xfrm>
            <a:off x="9105053" y="2968978"/>
            <a:ext cx="2622127" cy="36801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Bookings Cancelled</a:t>
            </a:r>
            <a:endParaRPr lang="en-US" dirty="0">
              <a:solidFill>
                <a:srgbClr val="6B728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4" name="Text 18"/>
          <p:cNvSpPr/>
          <p:nvPr/>
        </p:nvSpPr>
        <p:spPr>
          <a:xfrm>
            <a:off x="640080" y="362331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28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Feature Grou</a:t>
            </a:r>
            <a:r>
              <a:rPr lang="en-US" b="1" dirty="0">
                <a:solidFill>
                  <a:srgbClr val="1F28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ps</a:t>
            </a:r>
            <a:endParaRPr lang="en-US" b="1" dirty="0">
              <a:solidFill>
                <a:srgbClr val="1F2857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graphicFrame>
        <p:nvGraphicFramePr>
          <p:cNvPr id="25" name="Table 0"/>
          <p:cNvGraphicFramePr>
            <a:graphicFrameLocks noGrp="1"/>
          </p:cNvGraphicFramePr>
          <p:nvPr/>
        </p:nvGraphicFramePr>
        <p:xfrm>
          <a:off x="548640" y="3989070"/>
          <a:ext cx="6949440" cy="2286000"/>
        </p:xfrm>
        <a:graphic>
          <a:graphicData uri="http://schemas.openxmlformats.org/drawingml/2006/table">
            <a:tbl>
              <a:tblPr/>
              <a:tblGrid>
                <a:gridCol w="2011680"/>
                <a:gridCol w="4937760"/>
              </a:tblGrid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Group</a:t>
                      </a:r>
                      <a:endParaRPr lang="en-US" sz="1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Example Columns</a:t>
                      </a:r>
                      <a:endParaRPr lang="en-US" sz="1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Stay details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no_of_adults, no_of_children, weekend/week nights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Booking details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lead_time, arrival date, market_segment_type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Preferences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meal_plan, room_type_reserved, car parking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Guest history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repeated_guest, previous cancellations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Target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booking_status (Cancelled / Not Cancelled)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6" name="Shape 19"/>
          <p:cNvSpPr/>
          <p:nvPr/>
        </p:nvSpPr>
        <p:spPr>
          <a:xfrm>
            <a:off x="7795260" y="3794760"/>
            <a:ext cx="3840480" cy="2788920"/>
          </a:xfrm>
          <a:prstGeom prst="roundRect">
            <a:avLst>
              <a:gd name="adj" fmla="val 2623"/>
            </a:avLst>
          </a:prstGeom>
          <a:solidFill>
            <a:srgbClr val="F7F8FC"/>
          </a:solidFill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Text 20"/>
          <p:cNvSpPr/>
          <p:nvPr/>
        </p:nvSpPr>
        <p:spPr>
          <a:xfrm>
            <a:off x="8001000" y="372618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28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Booking Status </a:t>
            </a:r>
            <a:r>
              <a:rPr lang="en-US" b="1" dirty="0">
                <a:solidFill>
                  <a:srgbClr val="1F28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Split</a:t>
            </a:r>
            <a:endParaRPr lang="en-US" dirty="0"/>
          </a:p>
        </p:txBody>
      </p:sp>
      <p:graphicFrame>
        <p:nvGraphicFramePr>
          <p:cNvPr id="28" name="Chart 0"/>
          <p:cNvGraphicFramePr/>
          <p:nvPr/>
        </p:nvGraphicFramePr>
        <p:xfrm>
          <a:off x="7839710" y="4061460"/>
          <a:ext cx="3773170" cy="27063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9" name="Text 21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 / 10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5740" y="26289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85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Exploratory Data Analysis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the data tells us before we build any model</a:t>
            </a:r>
            <a:endParaRPr lang="en-US" i="1" dirty="0">
              <a:solidFill>
                <a:srgbClr val="6B728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pic>
        <p:nvPicPr>
          <p:cNvPr id="4" name="Image 0" descr="/home/claude/project/eda_overvie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750" y="1296670"/>
            <a:ext cx="5722620" cy="272224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47345" y="4160520"/>
            <a:ext cx="457200" cy="457200"/>
          </a:xfrm>
          <a:prstGeom prst="ellipse">
            <a:avLst/>
          </a:prstGeom>
          <a:solidFill>
            <a:srgbClr val="F96167"/>
          </a:solidFill>
        </p:spPr>
      </p:sp>
      <p:pic>
        <p:nvPicPr>
          <p:cNvPr id="7" name="Image 1" descr="/home/claude/project/icons/bulb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726" y="4287901"/>
            <a:ext cx="201168" cy="2011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641080" y="1828800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8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Observations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1202690" y="4949190"/>
            <a:ext cx="3439795" cy="14058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Longer lead time (booked far in advance) strongly correlates with cancellation</a:t>
            </a:r>
            <a:endParaRPr lang="en-US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More special requests → guests are less likely to cancel</a:t>
            </a:r>
            <a:endParaRPr lang="en-US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5880735" y="902970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Lead Time vs Cancellation, and Correlation of Key Numeric Features</a:t>
            </a:r>
            <a:endParaRPr lang="en-US" i="1" dirty="0">
              <a:solidFill>
                <a:srgbClr val="6B728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pic>
        <p:nvPicPr>
          <p:cNvPr id="11" name="Image 2" descr="/home/claude/project/correlation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4595" y="1325880"/>
            <a:ext cx="5692140" cy="346583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 / 10</a:t>
            </a:r>
            <a:endParaRPr lang="en-US" sz="1000" dirty="0"/>
          </a:p>
        </p:txBody>
      </p:sp>
      <p:sp>
        <p:nvSpPr>
          <p:cNvPr id="14" name="Text Box 13"/>
          <p:cNvSpPr txBox="1"/>
          <p:nvPr/>
        </p:nvSpPr>
        <p:spPr>
          <a:xfrm>
            <a:off x="5880735" y="4742180"/>
            <a:ext cx="6096000" cy="7632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Repeat guests cancel less often than first-time guests</a:t>
            </a:r>
            <a:endParaRPr lang="en-US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Class split is moderately balanced (67% / 33%) — no heavy resampling needed</a:t>
            </a:r>
            <a:endParaRPr lang="en-US" dirty="0">
              <a:solidFill>
                <a:srgbClr val="2B2B2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15" name="Text Box 14"/>
          <p:cNvSpPr txBox="1"/>
          <p:nvPr/>
        </p:nvSpPr>
        <p:spPr>
          <a:xfrm>
            <a:off x="890905" y="416814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>
                <a:solidFill>
                  <a:schemeClr val="bg2">
                    <a:lumMod val="50000"/>
                  </a:schemeClr>
                </a:solidFill>
              </a:rPr>
              <a:t>Key Observation </a:t>
            </a:r>
            <a:endParaRPr lang="en-US" b="1">
              <a:solidFill>
                <a:schemeClr val="bg2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8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Is KNN?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5E7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“You are known by the company you keep”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822960" cy="822960"/>
          </a:xfrm>
          <a:prstGeom prst="ellipse">
            <a:avLst/>
          </a:prstGeom>
          <a:solidFill>
            <a:srgbClr val="F96167"/>
          </a:solidFill>
        </p:spPr>
      </p:sp>
      <p:pic>
        <p:nvPicPr>
          <p:cNvPr id="5" name="Image 0" descr="/home/claude/project/icons/users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069" y="1922069"/>
            <a:ext cx="362102" cy="3621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691640"/>
            <a:ext cx="99669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E5E7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K-Nearest Neighbors classifies a new booking by looking at the K most similar past bookings, and taking a majority vote among their outcomes.</a:t>
            </a:r>
            <a:endParaRPr lang="en-US" dirty="0">
              <a:solidFill>
                <a:srgbClr val="E5E7E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7" name="Shape 4"/>
          <p:cNvSpPr/>
          <p:nvPr>
            <p:custDataLst>
              <p:tags r:id="rId2"/>
            </p:custDataLst>
          </p:nvPr>
        </p:nvSpPr>
        <p:spPr>
          <a:xfrm>
            <a:off x="548640" y="2926080"/>
            <a:ext cx="2697480" cy="2743200"/>
          </a:xfrm>
          <a:prstGeom prst="roundRect">
            <a:avLst>
              <a:gd name="adj" fmla="val 2712"/>
            </a:avLst>
          </a:prstGeom>
          <a:solidFill>
            <a:srgbClr val="2F3C7E"/>
          </a:solidFill>
        </p:spPr>
      </p:sp>
      <p:sp>
        <p:nvSpPr>
          <p:cNvPr id="8" name="Shape 5"/>
          <p:cNvSpPr/>
          <p:nvPr>
            <p:custDataLst>
              <p:tags r:id="rId3"/>
            </p:custDataLst>
          </p:nvPr>
        </p:nvSpPr>
        <p:spPr>
          <a:xfrm>
            <a:off x="1577340" y="3200400"/>
            <a:ext cx="640080" cy="640080"/>
          </a:xfrm>
          <a:prstGeom prst="ellipse">
            <a:avLst/>
          </a:prstGeom>
          <a:solidFill>
            <a:srgbClr val="F96167"/>
          </a:solidFill>
        </p:spPr>
      </p:sp>
      <p:sp>
        <p:nvSpPr>
          <p:cNvPr id="9" name="Text 6"/>
          <p:cNvSpPr/>
          <p:nvPr>
            <p:custDataLst>
              <p:tags r:id="rId4"/>
            </p:custDataLst>
          </p:nvPr>
        </p:nvSpPr>
        <p:spPr>
          <a:xfrm>
            <a:off x="1577340" y="320040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7"/>
          <p:cNvSpPr/>
          <p:nvPr>
            <p:custDataLst>
              <p:tags r:id="rId5"/>
            </p:custDataLst>
          </p:nvPr>
        </p:nvSpPr>
        <p:spPr>
          <a:xfrm>
            <a:off x="685800" y="3977640"/>
            <a:ext cx="24231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Take a new booking</a:t>
            </a:r>
            <a:endParaRPr lang="en-US" dirty="0"/>
          </a:p>
        </p:txBody>
      </p:sp>
      <p:sp>
        <p:nvSpPr>
          <p:cNvPr id="11" name="Text 8"/>
          <p:cNvSpPr/>
          <p:nvPr>
            <p:custDataLst>
              <p:tags r:id="rId6"/>
            </p:custDataLst>
          </p:nvPr>
        </p:nvSpPr>
        <p:spPr>
          <a:xfrm>
            <a:off x="685800" y="4617720"/>
            <a:ext cx="242316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7D2F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booking we don't yet know the outcome for</a:t>
            </a:r>
            <a:endParaRPr lang="en-US" sz="1600" dirty="0"/>
          </a:p>
        </p:txBody>
      </p:sp>
      <p:sp>
        <p:nvSpPr>
          <p:cNvPr id="12" name="Shape 9"/>
          <p:cNvSpPr/>
          <p:nvPr>
            <p:custDataLst>
              <p:tags r:id="rId7"/>
            </p:custDataLst>
          </p:nvPr>
        </p:nvSpPr>
        <p:spPr>
          <a:xfrm>
            <a:off x="3429000" y="2926080"/>
            <a:ext cx="2697480" cy="2743200"/>
          </a:xfrm>
          <a:prstGeom prst="roundRect">
            <a:avLst>
              <a:gd name="adj" fmla="val 2712"/>
            </a:avLst>
          </a:prstGeom>
          <a:solidFill>
            <a:srgbClr val="2F3C7E"/>
          </a:solidFill>
        </p:spPr>
      </p:sp>
      <p:sp>
        <p:nvSpPr>
          <p:cNvPr id="13" name="Shape 10"/>
          <p:cNvSpPr/>
          <p:nvPr>
            <p:custDataLst>
              <p:tags r:id="rId8"/>
            </p:custDataLst>
          </p:nvPr>
        </p:nvSpPr>
        <p:spPr>
          <a:xfrm>
            <a:off x="4457700" y="3200400"/>
            <a:ext cx="640080" cy="640080"/>
          </a:xfrm>
          <a:prstGeom prst="ellipse">
            <a:avLst/>
          </a:prstGeom>
          <a:solidFill>
            <a:srgbClr val="F96167"/>
          </a:solidFill>
        </p:spPr>
      </p:sp>
      <p:sp>
        <p:nvSpPr>
          <p:cNvPr id="14" name="Text 11"/>
          <p:cNvSpPr/>
          <p:nvPr>
            <p:custDataLst>
              <p:tags r:id="rId9"/>
            </p:custDataLst>
          </p:nvPr>
        </p:nvSpPr>
        <p:spPr>
          <a:xfrm>
            <a:off x="4457700" y="320040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2"/>
          <p:cNvSpPr/>
          <p:nvPr>
            <p:custDataLst>
              <p:tags r:id="rId10"/>
            </p:custDataLst>
          </p:nvPr>
        </p:nvSpPr>
        <p:spPr>
          <a:xfrm>
            <a:off x="3566160" y="3977640"/>
            <a:ext cx="24231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Find K closest matches</a:t>
            </a:r>
            <a:endParaRPr lang="en-US" dirty="0"/>
          </a:p>
        </p:txBody>
      </p:sp>
      <p:sp>
        <p:nvSpPr>
          <p:cNvPr id="16" name="Text 13"/>
          <p:cNvSpPr/>
          <p:nvPr>
            <p:custDataLst>
              <p:tags r:id="rId11"/>
            </p:custDataLst>
          </p:nvPr>
        </p:nvSpPr>
        <p:spPr>
          <a:xfrm>
            <a:off x="3566160" y="4617720"/>
            <a:ext cx="242316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7D2F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Search past bookings most similar in features</a:t>
            </a:r>
            <a:endParaRPr lang="en-US" sz="1600" dirty="0"/>
          </a:p>
        </p:txBody>
      </p:sp>
      <p:sp>
        <p:nvSpPr>
          <p:cNvPr id="17" name="Shape 14"/>
          <p:cNvSpPr/>
          <p:nvPr>
            <p:custDataLst>
              <p:tags r:id="rId12"/>
            </p:custDataLst>
          </p:nvPr>
        </p:nvSpPr>
        <p:spPr>
          <a:xfrm>
            <a:off x="6309360" y="2926080"/>
            <a:ext cx="2697480" cy="2743200"/>
          </a:xfrm>
          <a:prstGeom prst="roundRect">
            <a:avLst>
              <a:gd name="adj" fmla="val 2712"/>
            </a:avLst>
          </a:prstGeom>
          <a:solidFill>
            <a:srgbClr val="2F3C7E"/>
          </a:solidFill>
        </p:spPr>
      </p:sp>
      <p:sp>
        <p:nvSpPr>
          <p:cNvPr id="18" name="Shape 15"/>
          <p:cNvSpPr/>
          <p:nvPr>
            <p:custDataLst>
              <p:tags r:id="rId13"/>
            </p:custDataLst>
          </p:nvPr>
        </p:nvSpPr>
        <p:spPr>
          <a:xfrm>
            <a:off x="7338060" y="3200400"/>
            <a:ext cx="640080" cy="640080"/>
          </a:xfrm>
          <a:prstGeom prst="ellipse">
            <a:avLst/>
          </a:prstGeom>
          <a:solidFill>
            <a:srgbClr val="F96167"/>
          </a:solidFill>
        </p:spPr>
      </p:sp>
      <p:sp>
        <p:nvSpPr>
          <p:cNvPr id="19" name="Text 16"/>
          <p:cNvSpPr/>
          <p:nvPr>
            <p:custDataLst>
              <p:tags r:id="rId14"/>
            </p:custDataLst>
          </p:nvPr>
        </p:nvSpPr>
        <p:spPr>
          <a:xfrm>
            <a:off x="7338060" y="320040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7"/>
          <p:cNvSpPr/>
          <p:nvPr>
            <p:custDataLst>
              <p:tags r:id="rId15"/>
            </p:custDataLst>
          </p:nvPr>
        </p:nvSpPr>
        <p:spPr>
          <a:xfrm>
            <a:off x="6446520" y="3977640"/>
            <a:ext cx="24231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Count their outcomes</a:t>
            </a:r>
            <a:endParaRPr lang="en-US" dirty="0"/>
          </a:p>
        </p:txBody>
      </p:sp>
      <p:sp>
        <p:nvSpPr>
          <p:cNvPr id="21" name="Text 18"/>
          <p:cNvSpPr/>
          <p:nvPr>
            <p:custDataLst>
              <p:tags r:id="rId16"/>
            </p:custDataLst>
          </p:nvPr>
        </p:nvSpPr>
        <p:spPr>
          <a:xfrm>
            <a:off x="6446520" y="4617720"/>
            <a:ext cx="242316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7D2F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many of these K were cancelled vs not?</a:t>
            </a:r>
            <a:endParaRPr lang="en-US" sz="1600" dirty="0"/>
          </a:p>
        </p:txBody>
      </p:sp>
      <p:sp>
        <p:nvSpPr>
          <p:cNvPr id="22" name="Shape 19"/>
          <p:cNvSpPr/>
          <p:nvPr>
            <p:custDataLst>
              <p:tags r:id="rId17"/>
            </p:custDataLst>
          </p:nvPr>
        </p:nvSpPr>
        <p:spPr>
          <a:xfrm>
            <a:off x="9189720" y="2926080"/>
            <a:ext cx="2697480" cy="2743200"/>
          </a:xfrm>
          <a:prstGeom prst="roundRect">
            <a:avLst>
              <a:gd name="adj" fmla="val 2712"/>
            </a:avLst>
          </a:prstGeom>
          <a:solidFill>
            <a:srgbClr val="2F3C7E"/>
          </a:solidFill>
        </p:spPr>
      </p:sp>
      <p:sp>
        <p:nvSpPr>
          <p:cNvPr id="23" name="Shape 20"/>
          <p:cNvSpPr/>
          <p:nvPr>
            <p:custDataLst>
              <p:tags r:id="rId18"/>
            </p:custDataLst>
          </p:nvPr>
        </p:nvSpPr>
        <p:spPr>
          <a:xfrm>
            <a:off x="10218420" y="3200400"/>
            <a:ext cx="640080" cy="640080"/>
          </a:xfrm>
          <a:prstGeom prst="ellipse">
            <a:avLst/>
          </a:prstGeom>
          <a:solidFill>
            <a:srgbClr val="F96167"/>
          </a:solidFill>
        </p:spPr>
      </p:sp>
      <p:sp>
        <p:nvSpPr>
          <p:cNvPr id="24" name="Text 21"/>
          <p:cNvSpPr/>
          <p:nvPr>
            <p:custDataLst>
              <p:tags r:id="rId19"/>
            </p:custDataLst>
          </p:nvPr>
        </p:nvSpPr>
        <p:spPr>
          <a:xfrm>
            <a:off x="10218420" y="320040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2"/>
          <p:cNvSpPr/>
          <p:nvPr>
            <p:custDataLst>
              <p:tags r:id="rId20"/>
            </p:custDataLst>
          </p:nvPr>
        </p:nvSpPr>
        <p:spPr>
          <a:xfrm>
            <a:off x="9326880" y="3977640"/>
            <a:ext cx="24231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Majority wins</a:t>
            </a:r>
            <a:endParaRPr lang="en-US" dirty="0"/>
          </a:p>
        </p:txBody>
      </p:sp>
      <p:sp>
        <p:nvSpPr>
          <p:cNvPr id="26" name="Text 23"/>
          <p:cNvSpPr/>
          <p:nvPr>
            <p:custDataLst>
              <p:tags r:id="rId21"/>
            </p:custDataLst>
          </p:nvPr>
        </p:nvSpPr>
        <p:spPr>
          <a:xfrm>
            <a:off x="9326880" y="4617720"/>
            <a:ext cx="242316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7D2F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Whichever group has more votes becomes the prediction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 / 10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85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Distance Formula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KNN decides which bookings are “similar”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8640" cy="548640"/>
          </a:xfrm>
          <a:prstGeom prst="ellipse">
            <a:avLst/>
          </a:prstGeom>
          <a:solidFill>
            <a:srgbClr val="2F3C7E"/>
          </a:solidFill>
        </p:spPr>
      </p:sp>
      <p:pic>
        <p:nvPicPr>
          <p:cNvPr id="5" name="Image 0" descr="/home/claude/project/icons/ruler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259" y="1799539"/>
            <a:ext cx="241402" cy="2414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64592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8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Euclidean Distance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548640" y="2240280"/>
            <a:ext cx="60350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B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Like measuring with a straight ruler — the shortest direct path between two points, found using the Pythagorean theorem.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3108960"/>
            <a:ext cx="6035040" cy="822960"/>
          </a:xfrm>
          <a:prstGeom prst="roundRect">
            <a:avLst>
              <a:gd name="adj" fmla="val 8889"/>
            </a:avLst>
          </a:prstGeom>
          <a:solidFill>
            <a:srgbClr val="F1F4FA"/>
          </a:solidFill>
        </p:spPr>
      </p:sp>
      <p:sp>
        <p:nvSpPr>
          <p:cNvPr id="9" name="Text 6"/>
          <p:cNvSpPr/>
          <p:nvPr/>
        </p:nvSpPr>
        <p:spPr>
          <a:xfrm>
            <a:off x="548640" y="3108960"/>
            <a:ext cx="60350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F3C7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  <a:sym typeface="+mn-ea"/>
              </a:rPr>
              <a:t>Distance = √[(x₁-x₂)² + (y₁-y₂)² + (z₁-z₂)² + ...]</a:t>
            </a:r>
            <a:endParaRPr lang="en-US" sz="1700" dirty="0"/>
          </a:p>
          <a:p>
            <a:pPr marL="0" indent="0" algn="ctr">
              <a:buNone/>
            </a:pP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548640" y="41605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8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Worked Example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/>
        </p:nvGraphicFramePr>
        <p:xfrm>
          <a:off x="548640" y="4572000"/>
          <a:ext cx="60350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371600"/>
                <a:gridCol w="1371600"/>
                <a:gridCol w="1463040"/>
              </a:tblGrid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Feature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Booking A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Booking B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Difference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Lead Time (days)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10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15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Price ($)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100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120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20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548640" y="5623560"/>
            <a:ext cx="6035040" cy="640080"/>
          </a:xfrm>
          <a:prstGeom prst="roundRect">
            <a:avLst>
              <a:gd name="adj" fmla="val 11429"/>
            </a:avLst>
          </a:prstGeom>
          <a:solidFill>
            <a:srgbClr val="F96167"/>
          </a:solidFill>
        </p:spPr>
      </p:sp>
      <p:sp>
        <p:nvSpPr>
          <p:cNvPr id="13" name="Text 9"/>
          <p:cNvSpPr/>
          <p:nvPr/>
        </p:nvSpPr>
        <p:spPr>
          <a:xfrm>
            <a:off x="548640" y="5623560"/>
            <a:ext cx="60350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  <a:sym typeface="+mn-ea"/>
              </a:rPr>
              <a:t>Distance = √(5² + 20²) = √425 ≈ 20.6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949440" y="1645920"/>
            <a:ext cx="4663440" cy="4617720"/>
          </a:xfrm>
          <a:prstGeom prst="roundRect">
            <a:avLst>
              <a:gd name="adj" fmla="val 1584"/>
            </a:avLst>
          </a:prstGeom>
          <a:solidFill>
            <a:srgbClr val="F7F8FC"/>
          </a:solidFill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223760" y="1920240"/>
            <a:ext cx="502920" cy="502920"/>
          </a:xfrm>
          <a:prstGeom prst="ellipse">
            <a:avLst/>
          </a:prstGeom>
          <a:solidFill>
            <a:srgbClr val="2F3C7E"/>
          </a:solidFill>
        </p:spPr>
      </p:sp>
      <p:pic>
        <p:nvPicPr>
          <p:cNvPr id="16" name="Image 1" descr="/home/claude/project/icons/balance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4578" y="2061058"/>
            <a:ext cx="221285" cy="22128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863840" y="1920240"/>
            <a:ext cx="3566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8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We Must Scale Data First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7223760" y="2514600"/>
            <a:ext cx="41148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Price ranges 0–540, but repeated_guest is only 0 or 1. Without scaling, price would unfairly dominate every distance calculation.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7223760" y="3657600"/>
            <a:ext cx="4114800" cy="640080"/>
          </a:xfrm>
          <a:prstGeom prst="roundRect">
            <a:avLst>
              <a:gd name="adj" fmla="val 8571"/>
            </a:avLst>
          </a:prstGeom>
          <a:solidFill>
            <a:srgbClr val="2F3C7E"/>
          </a:solidFill>
        </p:spPr>
      </p:sp>
      <p:sp>
        <p:nvSpPr>
          <p:cNvPr id="20" name="Text 15"/>
          <p:cNvSpPr/>
          <p:nvPr/>
        </p:nvSpPr>
        <p:spPr>
          <a:xfrm>
            <a:off x="7223760" y="3657600"/>
            <a:ext cx="4114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z = (x - mean) / std. dev.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7223760" y="448056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Example: price $180, average $110, std. dev. $35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7223760" y="489204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616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z = (180 - 110) / 35 = 2.0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7223760" y="5349240"/>
            <a:ext cx="41148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B2B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price is 2 standard deviations above average — every feature now sits on a fair, comparable scale.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 / 10</a:t>
            </a:r>
            <a:endParaRPr lang="en-US" sz="1000" dirty="0"/>
          </a:p>
        </p:txBody>
      </p:sp>
      <p:sp>
        <p:nvSpPr>
          <p:cNvPr id="26" name="Text Box 25"/>
          <p:cNvSpPr txBox="1"/>
          <p:nvPr/>
        </p:nvSpPr>
        <p:spPr>
          <a:xfrm>
            <a:off x="2078990" y="429133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85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Methodology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full process, end to end</a:t>
            </a:r>
            <a:endParaRPr lang="en-US" sz="1600" i="1" dirty="0">
              <a:solidFill>
                <a:srgbClr val="6B728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57600" cy="1417320"/>
          </a:xfrm>
          <a:prstGeom prst="roundRect">
            <a:avLst>
              <a:gd name="adj" fmla="val 4516"/>
            </a:avLst>
          </a:prstGeom>
          <a:solidFill>
            <a:srgbClr val="F1F4FA"/>
          </a:solidFill>
          <a:effectLst>
            <a:outerShdw blurRad="50800" dist="25400" dir="2700000" algn="bl" rotWithShape="0">
              <a:srgbClr val="000000">
                <a:alpha val="6000"/>
              </a:srgbClr>
            </a:outerShdw>
          </a:effectLst>
        </p:spPr>
        <p:txBody>
          <a:bodyPr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F3C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 Load Data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31520" y="2240280"/>
            <a:ext cx="32918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B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Read all 36,275 bookings from CSV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389120" y="1691640"/>
            <a:ext cx="3657600" cy="1417320"/>
          </a:xfrm>
          <a:prstGeom prst="roundRect">
            <a:avLst>
              <a:gd name="adj" fmla="val 4516"/>
            </a:avLst>
          </a:prstGeom>
          <a:solidFill>
            <a:srgbClr val="F1F4FA"/>
          </a:solidFill>
          <a:effectLst>
            <a:outerShdw blurRad="50800" dist="254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0" y="182880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F3C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 Clean Data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572000" y="2240280"/>
            <a:ext cx="32918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B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Drop Booking_ID; confirm no missing values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29600" y="1691640"/>
            <a:ext cx="3657600" cy="1417320"/>
          </a:xfrm>
          <a:prstGeom prst="roundRect">
            <a:avLst>
              <a:gd name="adj" fmla="val 4516"/>
            </a:avLst>
          </a:prstGeom>
          <a:solidFill>
            <a:srgbClr val="F1F4FA"/>
          </a:solidFill>
          <a:effectLst>
            <a:outerShdw blurRad="50800" dist="254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412480" y="182880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F3C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 Encode Target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412480" y="2240280"/>
            <a:ext cx="32918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B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Cancelled = 1, Not Cancelled = 0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3291840"/>
            <a:ext cx="3657600" cy="1417320"/>
          </a:xfrm>
          <a:prstGeom prst="roundRect">
            <a:avLst>
              <a:gd name="adj" fmla="val 4516"/>
            </a:avLst>
          </a:prstGeom>
          <a:solidFill>
            <a:srgbClr val="F7F8FC"/>
          </a:solidFill>
          <a:effectLst>
            <a:outerShdw blurRad="50800" dist="254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" y="342900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F3C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 Encode Categories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31520" y="3840480"/>
            <a:ext cx="32918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B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One-hot encode meal plan, room type, market segment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389120" y="3291840"/>
            <a:ext cx="3657600" cy="1417320"/>
          </a:xfrm>
          <a:prstGeom prst="roundRect">
            <a:avLst>
              <a:gd name="adj" fmla="val 4516"/>
            </a:avLst>
          </a:prstGeom>
          <a:solidFill>
            <a:srgbClr val="F7F8FC"/>
          </a:solidFill>
          <a:effectLst>
            <a:outerShdw blurRad="50800" dist="25400" dir="2700000" algn="bl" rotWithShape="0">
              <a:srgbClr val="000000">
                <a:alpha val="6000"/>
              </a:srgbClr>
            </a:outerShdw>
          </a:effectLst>
        </p:spPr>
        <p:txBody>
          <a:bodyPr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0" y="342900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F3C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 Split Data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572000" y="3840480"/>
            <a:ext cx="32918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B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80% training (29,020) / 20% testing (7,255)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229600" y="3291840"/>
            <a:ext cx="3657600" cy="1417320"/>
          </a:xfrm>
          <a:prstGeom prst="roundRect">
            <a:avLst>
              <a:gd name="adj" fmla="val 4516"/>
            </a:avLst>
          </a:prstGeom>
          <a:solidFill>
            <a:srgbClr val="F7F8FC"/>
          </a:solidFill>
          <a:effectLst>
            <a:outerShdw blurRad="50800" dist="254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412480" y="342900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F3C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6. Scale Features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412480" y="3840480"/>
            <a:ext cx="32918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B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Apply standardization (z-score) to all numeric columns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48640" y="4892040"/>
            <a:ext cx="3657600" cy="1417320"/>
          </a:xfrm>
          <a:prstGeom prst="roundRect">
            <a:avLst>
              <a:gd name="adj" fmla="val 4516"/>
            </a:avLst>
          </a:prstGeom>
          <a:solidFill>
            <a:srgbClr val="F1F4FA"/>
          </a:solidFill>
          <a:effectLst>
            <a:outerShdw blurRad="50800" dist="254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31520" y="502920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F3C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7. Train KNN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731520" y="5440680"/>
            <a:ext cx="32918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B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 memorizes training bookings and outcomes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389120" y="4892040"/>
            <a:ext cx="3657600" cy="1417320"/>
          </a:xfrm>
          <a:prstGeom prst="roundRect">
            <a:avLst>
              <a:gd name="adj" fmla="val 4516"/>
            </a:avLst>
          </a:prstGeom>
          <a:solidFill>
            <a:srgbClr val="F1F4FA"/>
          </a:solidFill>
          <a:effectLst>
            <a:outerShdw blurRad="50800" dist="254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572000" y="502920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F3C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8. Tune K</a:t>
            </a: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572000" y="5440680"/>
            <a:ext cx="32918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B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 multiple K values; cross-validate to confirm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229600" y="4892040"/>
            <a:ext cx="3657600" cy="1417320"/>
          </a:xfrm>
          <a:prstGeom prst="roundRect">
            <a:avLst>
              <a:gd name="adj" fmla="val 4516"/>
            </a:avLst>
          </a:prstGeom>
          <a:solidFill>
            <a:srgbClr val="F1F4FA"/>
          </a:solidFill>
          <a:effectLst>
            <a:outerShdw blurRad="50800" dist="254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412480" y="502920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F3C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9. Evaluate</a:t>
            </a: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8412480" y="5440680"/>
            <a:ext cx="32918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B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Score the model on unseen test data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 / 10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85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Choosing the Best 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Balancing sensitivity against generalization</a:t>
            </a:r>
            <a:endParaRPr lang="en-US" dirty="0"/>
          </a:p>
        </p:txBody>
      </p:sp>
      <p:pic>
        <p:nvPicPr>
          <p:cNvPr id="4" name="Image 0" descr="/home/claude/project/elbow_curv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7050" y="1325880"/>
            <a:ext cx="5873750" cy="434276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43600"/>
            <a:ext cx="5852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Error Rate vs K — lowest error occurs around K = 9–17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766560" y="1600200"/>
            <a:ext cx="4846320" cy="4069080"/>
          </a:xfrm>
          <a:prstGeom prst="roundRect">
            <a:avLst>
              <a:gd name="adj" fmla="val 1798"/>
            </a:avLst>
          </a:prstGeom>
          <a:solidFill>
            <a:srgbClr val="F7F8FC"/>
          </a:solidFill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040880" y="1874520"/>
            <a:ext cx="502920" cy="502920"/>
          </a:xfrm>
          <a:prstGeom prst="ellipse">
            <a:avLst/>
          </a:prstGeom>
          <a:solidFill>
            <a:srgbClr val="F96167"/>
          </a:solidFill>
        </p:spPr>
      </p:sp>
      <p:pic>
        <p:nvPicPr>
          <p:cNvPr id="8" name="Image 1" descr="/home/claude/project/icons/cogs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1698" y="2015338"/>
            <a:ext cx="221285" cy="22128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680960" y="1874520"/>
            <a:ext cx="37490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8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We Picked K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7040880" y="2468880"/>
            <a:ext cx="4297680" cy="19310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 too small → sensitive to noise, unreliable</a:t>
            </a:r>
            <a:endParaRPr lang="en-US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 too large → too generalized, misses patterns</a:t>
            </a:r>
            <a:endParaRPr lang="en-US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Tested odd K values from 1 to 29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Confirmed with cross-validation (3-fold)</a:t>
            </a:r>
            <a:endParaRPr lang="en-US" dirty="0"/>
          </a:p>
        </p:txBody>
      </p:sp>
      <p:sp>
        <p:nvSpPr>
          <p:cNvPr id="11" name="Shape 7"/>
          <p:cNvSpPr/>
          <p:nvPr/>
        </p:nvSpPr>
        <p:spPr>
          <a:xfrm>
            <a:off x="7040880" y="5188585"/>
            <a:ext cx="4297680" cy="1005840"/>
          </a:xfrm>
          <a:prstGeom prst="roundRect">
            <a:avLst>
              <a:gd name="adj" fmla="val 6364"/>
            </a:avLst>
          </a:prstGeom>
          <a:solidFill>
            <a:srgbClr val="2F3C7E"/>
          </a:solidFill>
        </p:spPr>
      </p:sp>
      <p:sp>
        <p:nvSpPr>
          <p:cNvPr id="12" name="Text 8"/>
          <p:cNvSpPr/>
          <p:nvPr/>
        </p:nvSpPr>
        <p:spPr>
          <a:xfrm>
            <a:off x="7181850" y="5212207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9E79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Best Configuration</a:t>
            </a: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7181850" y="5497957"/>
            <a:ext cx="39319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 = 17  •  weights = distance  •  metric = manhattan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 / 10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85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Results &amp; Evaluation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4" name="Shape 2"/>
          <p:cNvSpPr/>
          <p:nvPr>
            <p:custDataLst>
              <p:tags r:id="rId1"/>
            </p:custDataLst>
          </p:nvPr>
        </p:nvSpPr>
        <p:spPr>
          <a:xfrm>
            <a:off x="548640" y="1645920"/>
            <a:ext cx="2103120" cy="1188720"/>
          </a:xfrm>
          <a:prstGeom prst="roundRect">
            <a:avLst>
              <a:gd name="adj" fmla="val 5385"/>
            </a:avLst>
          </a:prstGeom>
          <a:solidFill>
            <a:srgbClr val="2F3C7E"/>
          </a:solidFill>
        </p:spPr>
      </p:sp>
      <p:sp>
        <p:nvSpPr>
          <p:cNvPr id="5" name="Text 3"/>
          <p:cNvSpPr/>
          <p:nvPr>
            <p:custDataLst>
              <p:tags r:id="rId2"/>
            </p:custDataLst>
          </p:nvPr>
        </p:nvSpPr>
        <p:spPr>
          <a:xfrm>
            <a:off x="548640" y="1783080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87.9%</a:t>
            </a:r>
            <a:endParaRPr lang="en-US" sz="2400" dirty="0"/>
          </a:p>
        </p:txBody>
      </p:sp>
      <p:sp>
        <p:nvSpPr>
          <p:cNvPr id="6" name="Text 4"/>
          <p:cNvSpPr/>
          <p:nvPr>
            <p:custDataLst>
              <p:tags r:id="rId3"/>
            </p:custDataLst>
          </p:nvPr>
        </p:nvSpPr>
        <p:spPr>
          <a:xfrm>
            <a:off x="548640" y="237744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Accuracy</a:t>
            </a:r>
            <a:endParaRPr lang="en-US" sz="1600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7" name="Shape 5"/>
          <p:cNvSpPr/>
          <p:nvPr>
            <p:custDataLst>
              <p:tags r:id="rId4"/>
            </p:custDataLst>
          </p:nvPr>
        </p:nvSpPr>
        <p:spPr>
          <a:xfrm>
            <a:off x="2788920" y="1645920"/>
            <a:ext cx="2103120" cy="1188720"/>
          </a:xfrm>
          <a:prstGeom prst="roundRect">
            <a:avLst>
              <a:gd name="adj" fmla="val 5385"/>
            </a:avLst>
          </a:prstGeom>
          <a:solidFill>
            <a:srgbClr val="F96167"/>
          </a:solidFill>
        </p:spPr>
        <p:txBody>
          <a:bodyPr/>
          <a:p>
            <a:endParaRPr lang="en-US"/>
          </a:p>
        </p:txBody>
      </p:sp>
      <p:sp>
        <p:nvSpPr>
          <p:cNvPr id="8" name="Text 6"/>
          <p:cNvSpPr/>
          <p:nvPr>
            <p:custDataLst>
              <p:tags r:id="rId5"/>
            </p:custDataLst>
          </p:nvPr>
        </p:nvSpPr>
        <p:spPr>
          <a:xfrm>
            <a:off x="2788920" y="1783080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83.6%</a:t>
            </a:r>
            <a:endParaRPr lang="en-US" sz="2400" dirty="0"/>
          </a:p>
        </p:txBody>
      </p:sp>
      <p:sp>
        <p:nvSpPr>
          <p:cNvPr id="9" name="Text 7"/>
          <p:cNvSpPr/>
          <p:nvPr>
            <p:custDataLst>
              <p:tags r:id="rId6"/>
            </p:custDataLst>
          </p:nvPr>
        </p:nvSpPr>
        <p:spPr>
          <a:xfrm>
            <a:off x="2788920" y="237744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Precision</a:t>
            </a:r>
            <a:endParaRPr lang="en-US" sz="1600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0" name="Shape 8"/>
          <p:cNvSpPr/>
          <p:nvPr>
            <p:custDataLst>
              <p:tags r:id="rId7"/>
            </p:custDataLst>
          </p:nvPr>
        </p:nvSpPr>
        <p:spPr>
          <a:xfrm>
            <a:off x="5029200" y="1645920"/>
            <a:ext cx="2103120" cy="1188720"/>
          </a:xfrm>
          <a:prstGeom prst="roundRect">
            <a:avLst>
              <a:gd name="adj" fmla="val 5385"/>
            </a:avLst>
          </a:prstGeom>
          <a:solidFill>
            <a:srgbClr val="2F3C7E"/>
          </a:solidFill>
        </p:spPr>
      </p:sp>
      <p:sp>
        <p:nvSpPr>
          <p:cNvPr id="11" name="Text 9"/>
          <p:cNvSpPr/>
          <p:nvPr>
            <p:custDataLst>
              <p:tags r:id="rId8"/>
            </p:custDataLst>
          </p:nvPr>
        </p:nvSpPr>
        <p:spPr>
          <a:xfrm>
            <a:off x="5029200" y="1783080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78.7%</a:t>
            </a:r>
            <a:endParaRPr lang="en-US" sz="2400" dirty="0"/>
          </a:p>
        </p:txBody>
      </p:sp>
      <p:sp>
        <p:nvSpPr>
          <p:cNvPr id="12" name="Text 10"/>
          <p:cNvSpPr/>
          <p:nvPr>
            <p:custDataLst>
              <p:tags r:id="rId9"/>
            </p:custDataLst>
          </p:nvPr>
        </p:nvSpPr>
        <p:spPr>
          <a:xfrm>
            <a:off x="5029200" y="237744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Recall</a:t>
            </a:r>
            <a:endParaRPr lang="en-US" sz="1600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3" name="Shape 11"/>
          <p:cNvSpPr/>
          <p:nvPr>
            <p:custDataLst>
              <p:tags r:id="rId10"/>
            </p:custDataLst>
          </p:nvPr>
        </p:nvSpPr>
        <p:spPr>
          <a:xfrm>
            <a:off x="7269480" y="1645920"/>
            <a:ext cx="2103120" cy="1188720"/>
          </a:xfrm>
          <a:prstGeom prst="roundRect">
            <a:avLst>
              <a:gd name="adj" fmla="val 5385"/>
            </a:avLst>
          </a:prstGeom>
          <a:solidFill>
            <a:srgbClr val="F96167"/>
          </a:solidFill>
        </p:spPr>
      </p:sp>
      <p:sp>
        <p:nvSpPr>
          <p:cNvPr id="14" name="Text 12"/>
          <p:cNvSpPr/>
          <p:nvPr>
            <p:custDataLst>
              <p:tags r:id="rId11"/>
            </p:custDataLst>
          </p:nvPr>
        </p:nvSpPr>
        <p:spPr>
          <a:xfrm>
            <a:off x="7269480" y="1783080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81.0%</a:t>
            </a:r>
            <a:endParaRPr lang="en-US" sz="2400" dirty="0"/>
          </a:p>
        </p:txBody>
      </p:sp>
      <p:sp>
        <p:nvSpPr>
          <p:cNvPr id="15" name="Text 13"/>
          <p:cNvSpPr/>
          <p:nvPr>
            <p:custDataLst>
              <p:tags r:id="rId12"/>
            </p:custDataLst>
          </p:nvPr>
        </p:nvSpPr>
        <p:spPr>
          <a:xfrm>
            <a:off x="7269480" y="237744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F1-Score</a:t>
            </a:r>
            <a:endParaRPr lang="en-US" sz="1600" dirty="0"/>
          </a:p>
        </p:txBody>
      </p:sp>
      <p:sp>
        <p:nvSpPr>
          <p:cNvPr id="16" name="Shape 14"/>
          <p:cNvSpPr/>
          <p:nvPr>
            <p:custDataLst>
              <p:tags r:id="rId13"/>
            </p:custDataLst>
          </p:nvPr>
        </p:nvSpPr>
        <p:spPr>
          <a:xfrm>
            <a:off x="9509760" y="1645920"/>
            <a:ext cx="2103120" cy="1188720"/>
          </a:xfrm>
          <a:prstGeom prst="roundRect">
            <a:avLst>
              <a:gd name="adj" fmla="val 5385"/>
            </a:avLst>
          </a:prstGeom>
          <a:solidFill>
            <a:srgbClr val="2F3C7E"/>
          </a:solidFill>
        </p:spPr>
        <p:txBody>
          <a:bodyPr/>
          <a:p>
            <a:endParaRPr lang="en-US"/>
          </a:p>
        </p:txBody>
      </p:sp>
      <p:sp>
        <p:nvSpPr>
          <p:cNvPr id="17" name="Text 15"/>
          <p:cNvSpPr/>
          <p:nvPr>
            <p:custDataLst>
              <p:tags r:id="rId14"/>
            </p:custDataLst>
          </p:nvPr>
        </p:nvSpPr>
        <p:spPr>
          <a:xfrm>
            <a:off x="9509760" y="1783080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0.939</a:t>
            </a:r>
            <a:endParaRPr lang="en-US" sz="2400" dirty="0"/>
          </a:p>
        </p:txBody>
      </p:sp>
      <p:sp>
        <p:nvSpPr>
          <p:cNvPr id="18" name="Text 16"/>
          <p:cNvSpPr/>
          <p:nvPr>
            <p:custDataLst>
              <p:tags r:id="rId15"/>
            </p:custDataLst>
          </p:nvPr>
        </p:nvSpPr>
        <p:spPr>
          <a:xfrm>
            <a:off x="9509760" y="237744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ROC-AUC</a:t>
            </a:r>
            <a:endParaRPr lang="en-US" sz="1600" dirty="0"/>
          </a:p>
        </p:txBody>
      </p:sp>
      <p:pic>
        <p:nvPicPr>
          <p:cNvPr id="19" name="Image 0" descr="/home/claude/project/confusion_matrix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48640" y="3063240"/>
            <a:ext cx="3657600" cy="3280410"/>
          </a:xfrm>
          <a:prstGeom prst="rect">
            <a:avLst/>
          </a:prstGeom>
        </p:spPr>
      </p:pic>
      <p:pic>
        <p:nvPicPr>
          <p:cNvPr id="20" name="Image 1" descr="/home/claude/project/roc_curv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480560" y="3063240"/>
            <a:ext cx="3657600" cy="3272790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8412480" y="3063240"/>
            <a:ext cx="3200400" cy="3063240"/>
          </a:xfrm>
          <a:prstGeom prst="roundRect">
            <a:avLst>
              <a:gd name="adj" fmla="val 2388"/>
            </a:avLst>
          </a:prstGeom>
          <a:solidFill>
            <a:srgbClr val="F7F8FC"/>
          </a:solidFill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23" name="Image 2" descr="/home/claude/project/icons/trophy_whit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723376" y="3419856"/>
            <a:ext cx="201168" cy="20116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9144000" y="3310128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8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Interpretation</a:t>
            </a:r>
            <a:endParaRPr lang="en-US" sz="2000" b="1" dirty="0">
              <a:solidFill>
                <a:srgbClr val="1F2857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5" name="Text 20"/>
          <p:cNvSpPr/>
          <p:nvPr/>
        </p:nvSpPr>
        <p:spPr>
          <a:xfrm>
            <a:off x="8595360" y="3417570"/>
            <a:ext cx="2834640" cy="2103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2B2B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model is correct ~88% of the time, catches 4 of 5 real cancellations, and shows strong (0.939) separability between classes overall.</a:t>
            </a:r>
            <a:endParaRPr lang="en-US" dirty="0"/>
          </a:p>
        </p:txBody>
      </p:sp>
      <p:sp>
        <p:nvSpPr>
          <p:cNvPr id="26" name="Text 21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 / 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8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40080" cy="640080"/>
          </a:xfrm>
          <a:prstGeom prst="ellipse">
            <a:avLst/>
          </a:prstGeom>
          <a:solidFill>
            <a:srgbClr val="F96167"/>
          </a:solidFill>
        </p:spPr>
      </p:sp>
      <p:pic>
        <p:nvPicPr>
          <p:cNvPr id="5" name="Image 0" descr="/home/claude/project/icons/brain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7862" y="1825142"/>
            <a:ext cx="281635" cy="28163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645920"/>
            <a:ext cx="1014984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5E7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tuned KNN model (K=17, distance-weighted, Manhattan distance) predicts hotel booking cancellation with 87.9% accuracy and 0.939 ROC-AUC on data it has never seen.</a:t>
            </a:r>
            <a:endParaRPr lang="en-US" sz="1600" dirty="0"/>
          </a:p>
        </p:txBody>
      </p:sp>
      <p:sp>
        <p:nvSpPr>
          <p:cNvPr id="7" name="Shape 4"/>
          <p:cNvSpPr/>
          <p:nvPr>
            <p:custDataLst>
              <p:tags r:id="rId2"/>
            </p:custDataLst>
          </p:nvPr>
        </p:nvSpPr>
        <p:spPr>
          <a:xfrm>
            <a:off x="548640" y="2834640"/>
            <a:ext cx="3657600" cy="2468880"/>
          </a:xfrm>
          <a:prstGeom prst="roundRect">
            <a:avLst>
              <a:gd name="adj" fmla="val 2963"/>
            </a:avLst>
          </a:prstGeom>
          <a:solidFill>
            <a:srgbClr val="2F3C7E"/>
          </a:solidFill>
        </p:spPr>
      </p:sp>
      <p:sp>
        <p:nvSpPr>
          <p:cNvPr id="8" name="Text 5"/>
          <p:cNvSpPr/>
          <p:nvPr>
            <p:custDataLst>
              <p:tags r:id="rId3"/>
            </p:custDataLst>
          </p:nvPr>
        </p:nvSpPr>
        <p:spPr>
          <a:xfrm>
            <a:off x="777240" y="306324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9E79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Business Use</a:t>
            </a:r>
            <a:endParaRPr lang="en-US" sz="2000" dirty="0"/>
          </a:p>
        </p:txBody>
      </p:sp>
      <p:sp>
        <p:nvSpPr>
          <p:cNvPr id="9" name="Text 6"/>
          <p:cNvSpPr/>
          <p:nvPr>
            <p:custDataLst>
              <p:tags r:id="rId4"/>
            </p:custDataLst>
          </p:nvPr>
        </p:nvSpPr>
        <p:spPr>
          <a:xfrm>
            <a:off x="777240" y="3611880"/>
            <a:ext cx="320040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5E7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Flag high-risk bookings early for confirmation calls, deposits, or incentives</a:t>
            </a:r>
            <a:endParaRPr lang="en-US" sz="1600" dirty="0">
              <a:solidFill>
                <a:srgbClr val="E5E7E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0" name="Shape 7"/>
          <p:cNvSpPr/>
          <p:nvPr>
            <p:custDataLst>
              <p:tags r:id="rId5"/>
            </p:custDataLst>
          </p:nvPr>
        </p:nvSpPr>
        <p:spPr>
          <a:xfrm>
            <a:off x="4389120" y="2834640"/>
            <a:ext cx="3657600" cy="2468880"/>
          </a:xfrm>
          <a:prstGeom prst="roundRect">
            <a:avLst>
              <a:gd name="adj" fmla="val 2963"/>
            </a:avLst>
          </a:prstGeom>
          <a:solidFill>
            <a:srgbClr val="2F3C7E"/>
          </a:solidFill>
        </p:spPr>
      </p:sp>
      <p:sp>
        <p:nvSpPr>
          <p:cNvPr id="11" name="Text 8"/>
          <p:cNvSpPr/>
          <p:nvPr>
            <p:custDataLst>
              <p:tags r:id="rId6"/>
            </p:custDataLst>
          </p:nvPr>
        </p:nvSpPr>
        <p:spPr>
          <a:xfrm>
            <a:off x="4617720" y="306324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9E79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Signals</a:t>
            </a:r>
            <a:endParaRPr lang="en-US" sz="2000" dirty="0"/>
          </a:p>
        </p:txBody>
      </p:sp>
      <p:sp>
        <p:nvSpPr>
          <p:cNvPr id="12" name="Text 9"/>
          <p:cNvSpPr/>
          <p:nvPr>
            <p:custDataLst>
              <p:tags r:id="rId7"/>
            </p:custDataLst>
          </p:nvPr>
        </p:nvSpPr>
        <p:spPr>
          <a:xfrm>
            <a:off x="4617720" y="3611880"/>
            <a:ext cx="320040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5E7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Lead time, room price, and special requests are the strongest predictors</a:t>
            </a:r>
            <a:endParaRPr lang="en-US" sz="1600" dirty="0">
              <a:solidFill>
                <a:srgbClr val="E5E7E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3" name="Shape 10"/>
          <p:cNvSpPr/>
          <p:nvPr>
            <p:custDataLst>
              <p:tags r:id="rId8"/>
            </p:custDataLst>
          </p:nvPr>
        </p:nvSpPr>
        <p:spPr>
          <a:xfrm>
            <a:off x="8229600" y="2834640"/>
            <a:ext cx="3657600" cy="2468880"/>
          </a:xfrm>
          <a:prstGeom prst="roundRect">
            <a:avLst>
              <a:gd name="adj" fmla="val 2963"/>
            </a:avLst>
          </a:prstGeom>
          <a:solidFill>
            <a:srgbClr val="2F3C7E"/>
          </a:solidFill>
        </p:spPr>
      </p:sp>
      <p:sp>
        <p:nvSpPr>
          <p:cNvPr id="14" name="Text 11"/>
          <p:cNvSpPr/>
          <p:nvPr>
            <p:custDataLst>
              <p:tags r:id="rId9"/>
            </p:custDataLst>
          </p:nvPr>
        </p:nvSpPr>
        <p:spPr>
          <a:xfrm>
            <a:off x="8458200" y="306324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9E79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Beyond Hotels</a:t>
            </a:r>
            <a:endParaRPr lang="en-US" sz="2000" dirty="0"/>
          </a:p>
        </p:txBody>
      </p:sp>
      <p:sp>
        <p:nvSpPr>
          <p:cNvPr id="15" name="Text 12"/>
          <p:cNvSpPr/>
          <p:nvPr>
            <p:custDataLst>
              <p:tags r:id="rId10"/>
            </p:custDataLst>
          </p:nvPr>
        </p:nvSpPr>
        <p:spPr>
          <a:xfrm>
            <a:off x="8458200" y="3611880"/>
            <a:ext cx="320040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5E7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Same pipeline (encode → scale → KNN → tune → evaluate) applies directly to employee attrition with the right dataset</a:t>
            </a:r>
            <a:endParaRPr lang="en-US" sz="1600" dirty="0">
              <a:solidFill>
                <a:srgbClr val="E5E7E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548640" y="5623560"/>
            <a:ext cx="5486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Thank You</a:t>
            </a:r>
            <a:endParaRPr lang="en-US" sz="4000" b="1" dirty="0">
              <a:solidFill>
                <a:srgbClr val="FFFFFF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 / 10</a:t>
            </a:r>
            <a:endParaRPr lang="en-US" sz="10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61.05,&quot;left&quot;:43.2,&quot;top&quot;:108.95,&quot;width&quot;:880.2}"/>
</p:tagLst>
</file>

<file path=ppt/tags/tag2.xml><?xml version="1.0" encoding="utf-8"?>
<p:tagLst xmlns:p="http://schemas.openxmlformats.org/presentationml/2006/main">
  <p:tag name="KSO_WM_DIAGRAM_VIRTUALLY_FRAME" val="{&quot;height&quot;:161.05,&quot;left&quot;:43.2,&quot;top&quot;:108.95,&quot;width&quot;:880.2}"/>
</p:tagLst>
</file>

<file path=ppt/tags/tag3.xml><?xml version="1.0" encoding="utf-8"?>
<p:tagLst xmlns:p="http://schemas.openxmlformats.org/presentationml/2006/main">
  <p:tag name="KSO_WM_DIAGRAM_VIRTUALLY_FRAME" val="{&quot;height&quot;:161.05,&quot;left&quot;:43.2,&quot;top&quot;:108.95,&quot;width&quot;:880.2}"/>
</p:tagLst>
</file>

<file path=ppt/tags/tag4.xml><?xml version="1.0" encoding="utf-8"?>
<p:tagLst xmlns:p="http://schemas.openxmlformats.org/presentationml/2006/main">
  <p:tag name="KSO_WM_DIAGRAM_VIRTUALLY_FRAME" val="{&quot;height&quot;:161.05,&quot;left&quot;:43.2,&quot;top&quot;:108.95,&quot;width&quot;:880.2}"/>
</p:tagLst>
</file>

<file path=ppt/tags/tag5.xml><?xml version="1.0" encoding="utf-8"?>
<p:tagLst xmlns:p="http://schemas.openxmlformats.org/presentationml/2006/main">
  <p:tag name="KSO_WM_DIAGRAM_VIRTUALLY_FRAME" val="{&quot;height&quot;:161.05,&quot;left&quot;:43.2,&quot;top&quot;:108.95,&quot;width&quot;:880.2}"/>
</p:tagLst>
</file>

<file path=ppt/tags/tag6.xml><?xml version="1.0" encoding="utf-8"?>
<p:tagLst xmlns:p="http://schemas.openxmlformats.org/presentationml/2006/main">
  <p:tag name="KSO_WM_DIAGRAM_VIRTUALLY_FRAME" val="{&quot;height&quot;:161.05,&quot;left&quot;:43.2,&quot;top&quot;:108.95,&quot;width&quot;:880.2}"/>
</p:tagLst>
</file>

<file path=ppt/tags/tag7.xml><?xml version="1.0" encoding="utf-8"?>
<p:tagLst xmlns:p="http://schemas.openxmlformats.org/presentationml/2006/main">
  <p:tag name="KSO_WM_DIAGRAM_VIRTUALLY_FRAME" val="{&quot;height&quot;:161.05,&quot;left&quot;:43.2,&quot;top&quot;:108.95,&quot;width&quot;:880.2}"/>
</p:tagLst>
</file>

<file path=ppt/tags/tag8.xml><?xml version="1.0" encoding="utf-8"?>
<p:tagLst xmlns:p="http://schemas.openxmlformats.org/presentationml/2006/main">
  <p:tag name="KSO_WM_DIAGRAM_VIRTUALLY_FRAME" val="{&quot;height&quot;:161.05,&quot;left&quot;:43.2,&quot;top&quot;:108.95,&quot;width&quot;:880.2}"/>
</p:tagLst>
</file>

<file path=ppt/tags/tag9.xml><?xml version="1.0" encoding="utf-8"?>
<p:tagLst xmlns:p="http://schemas.openxmlformats.org/presentationml/2006/main">
  <p:tag name="KSO_WM_DIAGRAM_VIRTUALLY_FRAME" val="{&quot;height&quot;:161.05,&quot;left&quot;:43.2,&quot;top&quot;:108.95,&quot;width&quot;:880.2}"/>
</p:tagLst>
</file>

<file path=ppt/tags/tag10.xml><?xml version="1.0" encoding="utf-8"?>
<p:tagLst xmlns:p="http://schemas.openxmlformats.org/presentationml/2006/main">
  <p:tag name="KSO_WM_DIAGRAM_VIRTUALLY_FRAME" val="{&quot;height&quot;:161.05,&quot;left&quot;:43.2,&quot;top&quot;:108.95,&quot;width&quot;:880.2}"/>
</p:tagLst>
</file>

<file path=ppt/tags/tag11.xml><?xml version="1.0" encoding="utf-8"?>
<p:tagLst xmlns:p="http://schemas.openxmlformats.org/presentationml/2006/main">
  <p:tag name="KSO_WM_DIAGRAM_VIRTUALLY_FRAME" val="{&quot;height&quot;:161.05,&quot;left&quot;:43.2,&quot;top&quot;:108.95,&quot;width&quot;:880.2}"/>
</p:tagLst>
</file>

<file path=ppt/tags/tag12.xml><?xml version="1.0" encoding="utf-8"?>
<p:tagLst xmlns:p="http://schemas.openxmlformats.org/presentationml/2006/main">
  <p:tag name="KSO_WM_DIAGRAM_VIRTUALLY_FRAME" val="{&quot;height&quot;:161.05,&quot;left&quot;:43.2,&quot;top&quot;:108.95,&quot;width&quot;:880.2}"/>
</p:tagLst>
</file>

<file path=ppt/tags/tag13.xml><?xml version="1.0" encoding="utf-8"?>
<p:tagLst xmlns:p="http://schemas.openxmlformats.org/presentationml/2006/main">
  <p:tag name="KSO_WM_DIAGRAM_VIRTUALLY_FRAME" val="{&quot;height&quot;:161.05,&quot;left&quot;:43.2,&quot;top&quot;:108.95,&quot;width&quot;:880.2}"/>
</p:tagLst>
</file>

<file path=ppt/tags/tag14.xml><?xml version="1.0" encoding="utf-8"?>
<p:tagLst xmlns:p="http://schemas.openxmlformats.org/presentationml/2006/main">
  <p:tag name="KSO_WM_DIAGRAM_VIRTUALLY_FRAME" val="{&quot;height&quot;:161.05,&quot;left&quot;:43.2,&quot;top&quot;:108.95,&quot;width&quot;:880.2}"/>
</p:tagLst>
</file>

<file path=ppt/tags/tag15.xml><?xml version="1.0" encoding="utf-8"?>
<p:tagLst xmlns:p="http://schemas.openxmlformats.org/presentationml/2006/main">
  <p:tag name="KSO_WM_DIAGRAM_VIRTUALLY_FRAME" val="{&quot;height&quot;:161.05,&quot;left&quot;:43.2,&quot;top&quot;:108.95,&quot;width&quot;:880.2}"/>
</p:tagLst>
</file>

<file path=ppt/tags/tag16.xml><?xml version="1.0" encoding="utf-8"?>
<p:tagLst xmlns:p="http://schemas.openxmlformats.org/presentationml/2006/main">
  <p:tag name="KSO_WM_DIAGRAM_VIRTUALLY_FRAME" val="{&quot;height&quot;:161.05,&quot;left&quot;:43.2,&quot;top&quot;:108.95,&quot;width&quot;:880.2}"/>
</p:tagLst>
</file>

<file path=ppt/tags/tag17.xml><?xml version="1.0" encoding="utf-8"?>
<p:tagLst xmlns:p="http://schemas.openxmlformats.org/presentationml/2006/main">
  <p:tag name="KSO_WM_DIAGRAM_VIRTUALLY_FRAME" val="{&quot;height&quot;:161.05,&quot;left&quot;:43.2,&quot;top&quot;:108.95,&quot;width&quot;:880.2}"/>
</p:tagLst>
</file>

<file path=ppt/tags/tag18.xml><?xml version="1.0" encoding="utf-8"?>
<p:tagLst xmlns:p="http://schemas.openxmlformats.org/presentationml/2006/main">
  <p:tag name="KSO_WM_DIAGRAM_VIRTUALLY_FRAME" val="{&quot;height&quot;:161.05,&quot;left&quot;:43.2,&quot;top&quot;:108.95,&quot;width&quot;:880.2}"/>
</p:tagLst>
</file>

<file path=ppt/tags/tag19.xml><?xml version="1.0" encoding="utf-8"?>
<p:tagLst xmlns:p="http://schemas.openxmlformats.org/presentationml/2006/main">
  <p:tag name="KSO_WM_DIAGRAM_VIRTUALLY_FRAME" val="{&quot;height&quot;:161.05,&quot;left&quot;:43.2,&quot;top&quot;:108.95,&quot;width&quot;:880.2}"/>
</p:tagLst>
</file>

<file path=ppt/tags/tag20.xml><?xml version="1.0" encoding="utf-8"?>
<p:tagLst xmlns:p="http://schemas.openxmlformats.org/presentationml/2006/main">
  <p:tag name="KSO_WM_DIAGRAM_VIRTUALLY_FRAME" val="{&quot;height&quot;:161.05,&quot;left&quot;:43.2,&quot;top&quot;:108.95,&quot;width&quot;:880.2}"/>
</p:tagLst>
</file>

<file path=ppt/tags/tag21.xml><?xml version="1.0" encoding="utf-8"?>
<p:tagLst xmlns:p="http://schemas.openxmlformats.org/presentationml/2006/main">
  <p:tag name="KSO_WM_DIAGRAM_VIRTUALLY_FRAME" val="{&quot;height&quot;:216,&quot;left&quot;:43.2,&quot;top&quot;:230.4,&quot;width&quot;:892.8}"/>
</p:tagLst>
</file>

<file path=ppt/tags/tag22.xml><?xml version="1.0" encoding="utf-8"?>
<p:tagLst xmlns:p="http://schemas.openxmlformats.org/presentationml/2006/main">
  <p:tag name="KSO_WM_DIAGRAM_VIRTUALLY_FRAME" val="{&quot;height&quot;:216,&quot;left&quot;:43.2,&quot;top&quot;:230.4,&quot;width&quot;:892.8}"/>
</p:tagLst>
</file>

<file path=ppt/tags/tag23.xml><?xml version="1.0" encoding="utf-8"?>
<p:tagLst xmlns:p="http://schemas.openxmlformats.org/presentationml/2006/main">
  <p:tag name="KSO_WM_DIAGRAM_VIRTUALLY_FRAME" val="{&quot;height&quot;:216,&quot;left&quot;:43.2,&quot;top&quot;:230.4,&quot;width&quot;:892.8}"/>
</p:tagLst>
</file>

<file path=ppt/tags/tag24.xml><?xml version="1.0" encoding="utf-8"?>
<p:tagLst xmlns:p="http://schemas.openxmlformats.org/presentationml/2006/main">
  <p:tag name="KSO_WM_DIAGRAM_VIRTUALLY_FRAME" val="{&quot;height&quot;:216,&quot;left&quot;:43.2,&quot;top&quot;:230.4,&quot;width&quot;:892.8}"/>
</p:tagLst>
</file>

<file path=ppt/tags/tag25.xml><?xml version="1.0" encoding="utf-8"?>
<p:tagLst xmlns:p="http://schemas.openxmlformats.org/presentationml/2006/main">
  <p:tag name="KSO_WM_DIAGRAM_VIRTUALLY_FRAME" val="{&quot;height&quot;:216,&quot;left&quot;:43.2,&quot;top&quot;:230.4,&quot;width&quot;:892.8}"/>
</p:tagLst>
</file>

<file path=ppt/tags/tag26.xml><?xml version="1.0" encoding="utf-8"?>
<p:tagLst xmlns:p="http://schemas.openxmlformats.org/presentationml/2006/main">
  <p:tag name="KSO_WM_DIAGRAM_VIRTUALLY_FRAME" val="{&quot;height&quot;:216,&quot;left&quot;:43.2,&quot;top&quot;:230.4,&quot;width&quot;:892.8}"/>
</p:tagLst>
</file>

<file path=ppt/tags/tag27.xml><?xml version="1.0" encoding="utf-8"?>
<p:tagLst xmlns:p="http://schemas.openxmlformats.org/presentationml/2006/main">
  <p:tag name="KSO_WM_DIAGRAM_VIRTUALLY_FRAME" val="{&quot;height&quot;:216,&quot;left&quot;:43.2,&quot;top&quot;:230.4,&quot;width&quot;:892.8}"/>
</p:tagLst>
</file>

<file path=ppt/tags/tag28.xml><?xml version="1.0" encoding="utf-8"?>
<p:tagLst xmlns:p="http://schemas.openxmlformats.org/presentationml/2006/main">
  <p:tag name="KSO_WM_DIAGRAM_VIRTUALLY_FRAME" val="{&quot;height&quot;:216,&quot;left&quot;:43.2,&quot;top&quot;:230.4,&quot;width&quot;:892.8}"/>
</p:tagLst>
</file>

<file path=ppt/tags/tag29.xml><?xml version="1.0" encoding="utf-8"?>
<p:tagLst xmlns:p="http://schemas.openxmlformats.org/presentationml/2006/main">
  <p:tag name="KSO_WM_DIAGRAM_VIRTUALLY_FRAME" val="{&quot;height&quot;:216,&quot;left&quot;:43.2,&quot;top&quot;:230.4,&quot;width&quot;:892.8}"/>
</p:tagLst>
</file>

<file path=ppt/tags/tag30.xml><?xml version="1.0" encoding="utf-8"?>
<p:tagLst xmlns:p="http://schemas.openxmlformats.org/presentationml/2006/main">
  <p:tag name="KSO_WM_DIAGRAM_VIRTUALLY_FRAME" val="{&quot;height&quot;:216,&quot;left&quot;:43.2,&quot;top&quot;:230.4,&quot;width&quot;:892.8}"/>
</p:tagLst>
</file>

<file path=ppt/tags/tag31.xml><?xml version="1.0" encoding="utf-8"?>
<p:tagLst xmlns:p="http://schemas.openxmlformats.org/presentationml/2006/main">
  <p:tag name="KSO_WM_DIAGRAM_VIRTUALLY_FRAME" val="{&quot;height&quot;:216,&quot;left&quot;:43.2,&quot;top&quot;:230.4,&quot;width&quot;:892.8}"/>
</p:tagLst>
</file>

<file path=ppt/tags/tag32.xml><?xml version="1.0" encoding="utf-8"?>
<p:tagLst xmlns:p="http://schemas.openxmlformats.org/presentationml/2006/main">
  <p:tag name="KSO_WM_DIAGRAM_VIRTUALLY_FRAME" val="{&quot;height&quot;:216,&quot;left&quot;:43.2,&quot;top&quot;:230.4,&quot;width&quot;:892.8}"/>
</p:tagLst>
</file>

<file path=ppt/tags/tag33.xml><?xml version="1.0" encoding="utf-8"?>
<p:tagLst xmlns:p="http://schemas.openxmlformats.org/presentationml/2006/main">
  <p:tag name="KSO_WM_DIAGRAM_VIRTUALLY_FRAME" val="{&quot;height&quot;:216,&quot;left&quot;:43.2,&quot;top&quot;:230.4,&quot;width&quot;:892.8}"/>
</p:tagLst>
</file>

<file path=ppt/tags/tag34.xml><?xml version="1.0" encoding="utf-8"?>
<p:tagLst xmlns:p="http://schemas.openxmlformats.org/presentationml/2006/main">
  <p:tag name="KSO_WM_DIAGRAM_VIRTUALLY_FRAME" val="{&quot;height&quot;:216,&quot;left&quot;:43.2,&quot;top&quot;:230.4,&quot;width&quot;:892.8}"/>
</p:tagLst>
</file>

<file path=ppt/tags/tag35.xml><?xml version="1.0" encoding="utf-8"?>
<p:tagLst xmlns:p="http://schemas.openxmlformats.org/presentationml/2006/main">
  <p:tag name="KSO_WM_DIAGRAM_VIRTUALLY_FRAME" val="{&quot;height&quot;:216,&quot;left&quot;:43.2,&quot;top&quot;:230.4,&quot;width&quot;:892.8}"/>
</p:tagLst>
</file>

<file path=ppt/tags/tag36.xml><?xml version="1.0" encoding="utf-8"?>
<p:tagLst xmlns:p="http://schemas.openxmlformats.org/presentationml/2006/main">
  <p:tag name="KSO_WM_DIAGRAM_VIRTUALLY_FRAME" val="{&quot;height&quot;:216,&quot;left&quot;:43.2,&quot;top&quot;:230.4,&quot;width&quot;:892.8}"/>
</p:tagLst>
</file>

<file path=ppt/tags/tag37.xml><?xml version="1.0" encoding="utf-8"?>
<p:tagLst xmlns:p="http://schemas.openxmlformats.org/presentationml/2006/main">
  <p:tag name="KSO_WM_DIAGRAM_VIRTUALLY_FRAME" val="{&quot;height&quot;:216,&quot;left&quot;:43.2,&quot;top&quot;:230.4,&quot;width&quot;:892.8}"/>
</p:tagLst>
</file>

<file path=ppt/tags/tag38.xml><?xml version="1.0" encoding="utf-8"?>
<p:tagLst xmlns:p="http://schemas.openxmlformats.org/presentationml/2006/main">
  <p:tag name="KSO_WM_DIAGRAM_VIRTUALLY_FRAME" val="{&quot;height&quot;:216,&quot;left&quot;:43.2,&quot;top&quot;:230.4,&quot;width&quot;:892.8}"/>
</p:tagLst>
</file>

<file path=ppt/tags/tag39.xml><?xml version="1.0" encoding="utf-8"?>
<p:tagLst xmlns:p="http://schemas.openxmlformats.org/presentationml/2006/main">
  <p:tag name="KSO_WM_DIAGRAM_VIRTUALLY_FRAME" val="{&quot;height&quot;:216,&quot;left&quot;:43.2,&quot;top&quot;:230.4,&quot;width&quot;:892.8}"/>
</p:tagLst>
</file>

<file path=ppt/tags/tag40.xml><?xml version="1.0" encoding="utf-8"?>
<p:tagLst xmlns:p="http://schemas.openxmlformats.org/presentationml/2006/main">
  <p:tag name="KSO_WM_DIAGRAM_VIRTUALLY_FRAME" val="{&quot;height&quot;:216,&quot;left&quot;:43.2,&quot;top&quot;:230.4,&quot;width&quot;:892.8}"/>
</p:tagLst>
</file>

<file path=ppt/tags/tag41.xml><?xml version="1.0" encoding="utf-8"?>
<p:tagLst xmlns:p="http://schemas.openxmlformats.org/presentationml/2006/main">
  <p:tag name="KSO_WM_DIAGRAM_VIRTUALLY_FRAME" val="{&quot;height&quot;:93.6,&quot;left&quot;:43.2,&quot;top&quot;:129.6,&quot;width&quot;:871.2}"/>
</p:tagLst>
</file>

<file path=ppt/tags/tag42.xml><?xml version="1.0" encoding="utf-8"?>
<p:tagLst xmlns:p="http://schemas.openxmlformats.org/presentationml/2006/main">
  <p:tag name="KSO_WM_DIAGRAM_VIRTUALLY_FRAME" val="{&quot;height&quot;:93.6,&quot;left&quot;:43.2,&quot;top&quot;:129.6,&quot;width&quot;:871.2}"/>
</p:tagLst>
</file>

<file path=ppt/tags/tag43.xml><?xml version="1.0" encoding="utf-8"?>
<p:tagLst xmlns:p="http://schemas.openxmlformats.org/presentationml/2006/main">
  <p:tag name="KSO_WM_DIAGRAM_VIRTUALLY_FRAME" val="{&quot;height&quot;:93.6,&quot;left&quot;:43.2,&quot;top&quot;:129.6,&quot;width&quot;:871.2}"/>
</p:tagLst>
</file>

<file path=ppt/tags/tag44.xml><?xml version="1.0" encoding="utf-8"?>
<p:tagLst xmlns:p="http://schemas.openxmlformats.org/presentationml/2006/main">
  <p:tag name="KSO_WM_DIAGRAM_VIRTUALLY_FRAME" val="{&quot;height&quot;:93.6,&quot;left&quot;:43.2,&quot;top&quot;:129.6,&quot;width&quot;:871.2}"/>
</p:tagLst>
</file>

<file path=ppt/tags/tag45.xml><?xml version="1.0" encoding="utf-8"?>
<p:tagLst xmlns:p="http://schemas.openxmlformats.org/presentationml/2006/main">
  <p:tag name="KSO_WM_DIAGRAM_VIRTUALLY_FRAME" val="{&quot;height&quot;:93.6,&quot;left&quot;:43.2,&quot;top&quot;:129.6,&quot;width&quot;:871.2}"/>
</p:tagLst>
</file>

<file path=ppt/tags/tag46.xml><?xml version="1.0" encoding="utf-8"?>
<p:tagLst xmlns:p="http://schemas.openxmlformats.org/presentationml/2006/main">
  <p:tag name="KSO_WM_DIAGRAM_VIRTUALLY_FRAME" val="{&quot;height&quot;:93.6,&quot;left&quot;:43.2,&quot;top&quot;:129.6,&quot;width&quot;:871.2}"/>
</p:tagLst>
</file>

<file path=ppt/tags/tag47.xml><?xml version="1.0" encoding="utf-8"?>
<p:tagLst xmlns:p="http://schemas.openxmlformats.org/presentationml/2006/main">
  <p:tag name="KSO_WM_DIAGRAM_VIRTUALLY_FRAME" val="{&quot;height&quot;:93.6,&quot;left&quot;:43.2,&quot;top&quot;:129.6,&quot;width&quot;:871.2}"/>
</p:tagLst>
</file>

<file path=ppt/tags/tag48.xml><?xml version="1.0" encoding="utf-8"?>
<p:tagLst xmlns:p="http://schemas.openxmlformats.org/presentationml/2006/main">
  <p:tag name="KSO_WM_DIAGRAM_VIRTUALLY_FRAME" val="{&quot;height&quot;:93.6,&quot;left&quot;:43.2,&quot;top&quot;:129.6,&quot;width&quot;:871.2}"/>
</p:tagLst>
</file>

<file path=ppt/tags/tag49.xml><?xml version="1.0" encoding="utf-8"?>
<p:tagLst xmlns:p="http://schemas.openxmlformats.org/presentationml/2006/main">
  <p:tag name="KSO_WM_DIAGRAM_VIRTUALLY_FRAME" val="{&quot;height&quot;:93.6,&quot;left&quot;:43.2,&quot;top&quot;:129.6,&quot;width&quot;:871.2}"/>
</p:tagLst>
</file>

<file path=ppt/tags/tag50.xml><?xml version="1.0" encoding="utf-8"?>
<p:tagLst xmlns:p="http://schemas.openxmlformats.org/presentationml/2006/main">
  <p:tag name="KSO_WM_DIAGRAM_VIRTUALLY_FRAME" val="{&quot;height&quot;:93.6,&quot;left&quot;:43.2,&quot;top&quot;:129.6,&quot;width&quot;:871.2}"/>
</p:tagLst>
</file>

<file path=ppt/tags/tag51.xml><?xml version="1.0" encoding="utf-8"?>
<p:tagLst xmlns:p="http://schemas.openxmlformats.org/presentationml/2006/main">
  <p:tag name="KSO_WM_DIAGRAM_VIRTUALLY_FRAME" val="{&quot;height&quot;:93.6,&quot;left&quot;:43.2,&quot;top&quot;:129.6,&quot;width&quot;:871.2}"/>
</p:tagLst>
</file>

<file path=ppt/tags/tag52.xml><?xml version="1.0" encoding="utf-8"?>
<p:tagLst xmlns:p="http://schemas.openxmlformats.org/presentationml/2006/main">
  <p:tag name="KSO_WM_DIAGRAM_VIRTUALLY_FRAME" val="{&quot;height&quot;:93.6,&quot;left&quot;:43.2,&quot;top&quot;:129.6,&quot;width&quot;:871.2}"/>
</p:tagLst>
</file>

<file path=ppt/tags/tag53.xml><?xml version="1.0" encoding="utf-8"?>
<p:tagLst xmlns:p="http://schemas.openxmlformats.org/presentationml/2006/main">
  <p:tag name="KSO_WM_DIAGRAM_VIRTUALLY_FRAME" val="{&quot;height&quot;:93.6,&quot;left&quot;:43.2,&quot;top&quot;:129.6,&quot;width&quot;:871.2}"/>
</p:tagLst>
</file>

<file path=ppt/tags/tag54.xml><?xml version="1.0" encoding="utf-8"?>
<p:tagLst xmlns:p="http://schemas.openxmlformats.org/presentationml/2006/main">
  <p:tag name="KSO_WM_DIAGRAM_VIRTUALLY_FRAME" val="{&quot;height&quot;:93.6,&quot;left&quot;:43.2,&quot;top&quot;:129.6,&quot;width&quot;:871.2}"/>
</p:tagLst>
</file>

<file path=ppt/tags/tag55.xml><?xml version="1.0" encoding="utf-8"?>
<p:tagLst xmlns:p="http://schemas.openxmlformats.org/presentationml/2006/main">
  <p:tag name="KSO_WM_DIAGRAM_VIRTUALLY_FRAME" val="{&quot;height&quot;:93.6,&quot;left&quot;:43.2,&quot;top&quot;:129.6,&quot;width&quot;:871.2}"/>
</p:tagLst>
</file>

<file path=ppt/tags/tag56.xml><?xml version="1.0" encoding="utf-8"?>
<p:tagLst xmlns:p="http://schemas.openxmlformats.org/presentationml/2006/main">
  <p:tag name="KSO_WM_DIAGRAM_VIRTUALLY_FRAME" val="{&quot;height&quot;:194.4,&quot;left&quot;:43.2,&quot;top&quot;:223.2,&quot;width&quot;:892.8}"/>
</p:tagLst>
</file>

<file path=ppt/tags/tag57.xml><?xml version="1.0" encoding="utf-8"?>
<p:tagLst xmlns:p="http://schemas.openxmlformats.org/presentationml/2006/main">
  <p:tag name="KSO_WM_DIAGRAM_VIRTUALLY_FRAME" val="{&quot;height&quot;:194.4,&quot;left&quot;:43.2,&quot;top&quot;:223.2,&quot;width&quot;:892.8}"/>
</p:tagLst>
</file>

<file path=ppt/tags/tag58.xml><?xml version="1.0" encoding="utf-8"?>
<p:tagLst xmlns:p="http://schemas.openxmlformats.org/presentationml/2006/main">
  <p:tag name="KSO_WM_DIAGRAM_VIRTUALLY_FRAME" val="{&quot;height&quot;:194.4,&quot;left&quot;:43.2,&quot;top&quot;:223.2,&quot;width&quot;:892.8}"/>
</p:tagLst>
</file>

<file path=ppt/tags/tag59.xml><?xml version="1.0" encoding="utf-8"?>
<p:tagLst xmlns:p="http://schemas.openxmlformats.org/presentationml/2006/main">
  <p:tag name="KSO_WM_DIAGRAM_VIRTUALLY_FRAME" val="{&quot;height&quot;:194.4,&quot;left&quot;:43.2,&quot;top&quot;:223.2,&quot;width&quot;:892.8}"/>
</p:tagLst>
</file>

<file path=ppt/tags/tag60.xml><?xml version="1.0" encoding="utf-8"?>
<p:tagLst xmlns:p="http://schemas.openxmlformats.org/presentationml/2006/main">
  <p:tag name="KSO_WM_DIAGRAM_VIRTUALLY_FRAME" val="{&quot;height&quot;:194.4,&quot;left&quot;:43.2,&quot;top&quot;:223.2,&quot;width&quot;:892.8}"/>
</p:tagLst>
</file>

<file path=ppt/tags/tag61.xml><?xml version="1.0" encoding="utf-8"?>
<p:tagLst xmlns:p="http://schemas.openxmlformats.org/presentationml/2006/main">
  <p:tag name="KSO_WM_DIAGRAM_VIRTUALLY_FRAME" val="{&quot;height&quot;:194.4,&quot;left&quot;:43.2,&quot;top&quot;:223.2,&quot;width&quot;:892.8}"/>
</p:tagLst>
</file>

<file path=ppt/tags/tag62.xml><?xml version="1.0" encoding="utf-8"?>
<p:tagLst xmlns:p="http://schemas.openxmlformats.org/presentationml/2006/main">
  <p:tag name="KSO_WM_DIAGRAM_VIRTUALLY_FRAME" val="{&quot;height&quot;:194.4,&quot;left&quot;:43.2,&quot;top&quot;:223.2,&quot;width&quot;:892.8}"/>
</p:tagLst>
</file>

<file path=ppt/tags/tag63.xml><?xml version="1.0" encoding="utf-8"?>
<p:tagLst xmlns:p="http://schemas.openxmlformats.org/presentationml/2006/main">
  <p:tag name="KSO_WM_DIAGRAM_VIRTUALLY_FRAME" val="{&quot;height&quot;:194.4,&quot;left&quot;:43.2,&quot;top&quot;:223.2,&quot;width&quot;:892.8}"/>
</p:tagLst>
</file>

<file path=ppt/tags/tag64.xml><?xml version="1.0" encoding="utf-8"?>
<p:tagLst xmlns:p="http://schemas.openxmlformats.org/presentationml/2006/main">
  <p:tag name="KSO_WM_DIAGRAM_VIRTUALLY_FRAME" val="{&quot;height&quot;:194.4,&quot;left&quot;:43.2,&quot;top&quot;:223.2,&quot;width&quot;:892.8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4361</Words>
  <Application>WPS Presentation</Application>
  <PresentationFormat>On-screen Show (16:9)</PresentationFormat>
  <Paragraphs>293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3" baseType="lpstr">
      <vt:lpstr>Arial</vt:lpstr>
      <vt:lpstr>SimSun</vt:lpstr>
      <vt:lpstr>Wingdings</vt:lpstr>
      <vt:lpstr>Cambria</vt:lpstr>
      <vt:lpstr>Cambria</vt:lpstr>
      <vt:lpstr>Cambria</vt:lpstr>
      <vt:lpstr>Calibri</vt:lpstr>
      <vt:lpstr>Calibri</vt:lpstr>
      <vt:lpstr>Calibri</vt:lpstr>
      <vt:lpstr>Arial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Hotel Booking Cancellation Prediction using KNN</dc:title>
  <dc:creator>Student</dc:creator>
  <dc:subject>PptxGenJS Presentation</dc:subject>
  <cp:lastModifiedBy>5061Savita</cp:lastModifiedBy>
  <cp:revision>2</cp:revision>
  <dcterms:created xsi:type="dcterms:W3CDTF">2026-06-30T14:59:00Z</dcterms:created>
  <dcterms:modified xsi:type="dcterms:W3CDTF">2026-06-30T15:53:53Z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7D0767C606664EB6AFD0BBD9E884A03A_12</vt:lpwstr>
  </property>
  <property fmtid="{D5CDD505-2E9C-101B-9397-08002B2CF9AE}" pid="3" name="KSOProductBuildVer">
    <vt:lpwstr>1033-12.2.0.23155</vt:lpwstr>
  </property>
</Properties>
</file>